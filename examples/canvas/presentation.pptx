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1.png"/><Relationship Id="rId8" Type="http://schemas.openxmlformats.org/officeDocument/2006/relationships/image" Target="../media/image-6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65263"/>
            <a:ext cx="6296860" cy="1550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Цифровой аватар месторождения: ИИ и Интернет вещей в добыче газа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4063504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Как полевые данные становятся цифровой моделью — и что это даёт производству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86891"/>
            <a:ext cx="629686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Цифровое месторождение начинается с объединения разрозненных данных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138113" y="1672530"/>
            <a:ext cx="3177599" cy="1465957"/>
          </a:xfrm>
          <a:prstGeom prst="roundRect">
            <a:avLst>
              <a:gd name="adj" fmla="val 6498"/>
            </a:avLst>
          </a:prstGeom>
          <a:solidFill>
            <a:srgbClr val="17B8A0">
              <a:alpha val="9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270368" y="1778298"/>
            <a:ext cx="291308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Источники данных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270368" y="2090737"/>
            <a:ext cx="2913089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Скважины, компрессоры, трубопроводы и системы управления генерируют информацию в разных форматах, протоколах и с разной частотой — от SCADA до полевых датчиков.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549466" y="1778298"/>
            <a:ext cx="298710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Единая информационная база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49466" y="2090737"/>
            <a:ext cx="2987104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Интеграция разрозненных потоков в единую платформу — первый и ключевой шаг. Без этого ни один алгоритм не способен видеть полную картину производства и выявлять межсистемные зависимости.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233360" y="3257550"/>
            <a:ext cx="6296860" cy="2913459"/>
          </a:xfrm>
          <a:prstGeom prst="roundRect">
            <a:avLst>
              <a:gd name="adj" fmla="val 190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239710" y="3263900"/>
            <a:ext cx="6284160" cy="725190"/>
          </a:xfrm>
          <a:custGeom>
            <a:avLst/>
            <a:gdLst/>
            <a:ahLst/>
            <a:cxnLst/>
            <a:rect l="l" t="t" r="r" b="b"/>
            <a:pathLst>
              <a:path w="6284160" h="725190">
                <a:moveTo>
                  <a:pt x="46310" y="0"/>
                </a:moveTo>
                <a:lnTo>
                  <a:pt x="6237850" y="0"/>
                </a:lnTo>
                <a:arcTo hR="46311" wR="46310" stAng="16200000" swAng="5400000"/>
                <a:lnTo>
                  <a:pt x="6284160" y="725190"/>
                </a:lnTo>
                <a:lnTo>
                  <a:pt x="0" y="725190"/>
                </a:lnTo>
                <a:lnTo>
                  <a:pt x="0" y="46311"/>
                </a:lnTo>
                <a:arcTo hR="46311" wR="46310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1" name="Text 8"/>
          <p:cNvSpPr/>
          <p:nvPr/>
        </p:nvSpPr>
        <p:spPr>
          <a:xfrm>
            <a:off x="5371966" y="3396159"/>
            <a:ext cx="60196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SCADA / DCS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71966" y="3666331"/>
            <a:ext cx="601964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Системы управления и диспетчеризации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239710" y="3989090"/>
            <a:ext cx="6284160" cy="725190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14" name="Shape 11"/>
          <p:cNvSpPr/>
          <p:nvPr/>
        </p:nvSpPr>
        <p:spPr>
          <a:xfrm>
            <a:off x="5239710" y="3989090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5" name="Text 12"/>
          <p:cNvSpPr/>
          <p:nvPr/>
        </p:nvSpPr>
        <p:spPr>
          <a:xfrm>
            <a:off x="5371966" y="4121348"/>
            <a:ext cx="60196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IoT-датчики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71966" y="4391521"/>
            <a:ext cx="601964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Полевые измерения в реальном времени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239710" y="4714280"/>
            <a:ext cx="6284160" cy="725190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18" name="Shape 15"/>
          <p:cNvSpPr/>
          <p:nvPr/>
        </p:nvSpPr>
        <p:spPr>
          <a:xfrm>
            <a:off x="5239710" y="4714280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9" name="Text 16"/>
          <p:cNvSpPr/>
          <p:nvPr/>
        </p:nvSpPr>
        <p:spPr>
          <a:xfrm>
            <a:off x="5371966" y="4846538"/>
            <a:ext cx="60196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Лабораторные данные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371966" y="5116711"/>
            <a:ext cx="601964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Анализы состава и качества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239710" y="5439470"/>
            <a:ext cx="6284160" cy="725190"/>
          </a:xfrm>
          <a:custGeom>
            <a:avLst/>
            <a:gdLst/>
            <a:ahLst/>
            <a:cxnLst/>
            <a:rect l="l" t="t" r="r" b="b"/>
            <a:pathLst>
              <a:path w="6284160" h="725190">
                <a:moveTo>
                  <a:pt x="0" y="0"/>
                </a:moveTo>
                <a:lnTo>
                  <a:pt x="6284160" y="0"/>
                </a:lnTo>
                <a:lnTo>
                  <a:pt x="6284160" y="678879"/>
                </a:lnTo>
                <a:arcTo hR="46311" wR="46310" stAng="0" swAng="5400000"/>
                <a:lnTo>
                  <a:pt x="46310" y="725190"/>
                </a:lnTo>
                <a:arcTo hR="46311" wR="46310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22" name="Shape 19"/>
          <p:cNvSpPr/>
          <p:nvPr/>
        </p:nvSpPr>
        <p:spPr>
          <a:xfrm>
            <a:off x="5239710" y="5439470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23" name="Text 20"/>
          <p:cNvSpPr/>
          <p:nvPr/>
        </p:nvSpPr>
        <p:spPr>
          <a:xfrm>
            <a:off x="5371966" y="5571728"/>
            <a:ext cx="60196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ERP / MES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371966" y="5841901"/>
            <a:ext cx="601964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Производственные и бизнес-системы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6902"/>
            <a:ext cx="10868745" cy="1001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Цифровой аватар отражает актуальное состояние физического объекта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65511"/>
            <a:ext cx="5801870" cy="4361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31002" y="3713224"/>
            <a:ext cx="1058108" cy="967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Двусторонняя синхронизация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613862" y="4956047"/>
            <a:ext cx="1574123" cy="483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Цифровой аватар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613862" y="5508772"/>
            <a:ext cx="1574123" cy="380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Виртуальная модель в реальном времени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23390" y="4860880"/>
            <a:ext cx="1574123" cy="483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Аналитика и решения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23390" y="5413604"/>
            <a:ext cx="1574123" cy="571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Инсайты и управленческие действия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47120" y="2000477"/>
            <a:ext cx="1617135" cy="483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Физическое месторождение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747120" y="2553202"/>
            <a:ext cx="1617135" cy="571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Скважины, оборудование, трубопроводы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60606" y="1846163"/>
            <a:ext cx="4675864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Что такое цифровой аватар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860606" y="2251670"/>
            <a:ext cx="4675864" cy="100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Виртуальная модель месторождения, которая синхронизируется с реальными параметрами в режиме реального времени. Это не статичная схема — это живое отражение текущего состояния всех систем.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860606" y="3475434"/>
            <a:ext cx="4675864" cy="1905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860606" y="3708995"/>
            <a:ext cx="4675864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Ключевое преимущество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860606" y="4114502"/>
            <a:ext cx="4675864" cy="100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Аватар позволяет видеть полную картину производства и взаимосвязи между процессами — то, что невозможно охватить при работе с разрозненными системами мониторинга.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8517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IoT-датчики формируют непрерывный поток производственных сигналов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882676"/>
            <a:ext cx="413434" cy="413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502793"/>
            <a:ext cx="53309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Температура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61475" y="2860477"/>
            <a:ext cx="533098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Контроль тепловых режимов оборудования и технологических потоков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9132" y="1882676"/>
            <a:ext cx="413434" cy="4134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9132" y="2502793"/>
            <a:ext cx="53310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Давление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199132" y="2860477"/>
            <a:ext cx="533108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Мониторинг пластового и устьевого давления, перепадов в трубопроводах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720405"/>
            <a:ext cx="413434" cy="4134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340523"/>
            <a:ext cx="53309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Расход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61475" y="4698206"/>
            <a:ext cx="533098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Измерение объёмов газа, жидкости и конденсата в режиме реального времени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9132" y="3720405"/>
            <a:ext cx="413434" cy="41344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99132" y="4340523"/>
            <a:ext cx="53310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Вибрация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6199132" y="4698206"/>
            <a:ext cx="533108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Ранняя диагностика механического износа компрессоров и насосов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661475" y="5413474"/>
            <a:ext cx="10868745" cy="925909"/>
          </a:xfrm>
          <a:prstGeom prst="roundRect">
            <a:avLst>
              <a:gd name="adj" fmla="val 7502"/>
            </a:avLst>
          </a:prstGeom>
          <a:solidFill>
            <a:srgbClr val="E1E1EA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769" y="5653187"/>
            <a:ext cx="206667" cy="16529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98731" y="5620048"/>
            <a:ext cx="1016619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Высокая частота измерений — от секунд до миллисекунд — обеспечивает точность и оперативность данных, необходимых для работы алгоритмов реального времени.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23689"/>
            <a:ext cx="6296860" cy="1240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ИИ обнаруживает отклонения, прогнозирует изменения и сравнивает сценарии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233360" y="2141835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282969" y="2166640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636774" y="2187277"/>
            <a:ext cx="258369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Обнаружение аномалий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36774" y="2499717"/>
            <a:ext cx="258369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Алгоритмы выявляют отклонения от нормального режима работы, которые человек может пропустить в потоке тысяч параметров одновременно.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233360" y="3473351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82969" y="3498155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636774" y="3518793"/>
            <a:ext cx="258369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Прогнозирование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36774" y="3831233"/>
            <a:ext cx="2583691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Модели предсказывают развитие ситуации: снижение дебита, деградацию оборудования, изменение состава продукции — до того, как это становится проблемой.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233360" y="4995366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82969" y="5020171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5636774" y="5040809"/>
            <a:ext cx="258369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Сравнение сценариев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36774" y="5353248"/>
            <a:ext cx="258369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ИИ оценивает варианты действий и их вероятные последствия, позволяя инженеру выбрать оптимальное решение на основе данных.</a:t>
            </a:r>
            <a:endParaRPr lang="en-US" sz="1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206" y="2141835"/>
            <a:ext cx="2389624" cy="896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778934" y="2786094"/>
            <a:ext cx="360395" cy="138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Рекомендация</a:t>
            </a:r>
            <a:endParaRPr lang="en-US" sz="400" dirty="0"/>
          </a:p>
        </p:txBody>
      </p:sp>
      <p:sp>
        <p:nvSpPr>
          <p:cNvPr id="18" name="Text 14"/>
          <p:cNvSpPr/>
          <p:nvPr/>
        </p:nvSpPr>
        <p:spPr>
          <a:xfrm>
            <a:off x="10324738" y="2820807"/>
            <a:ext cx="360395" cy="69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Сравнение</a:t>
            </a:r>
            <a:endParaRPr lang="en-US" sz="400" dirty="0"/>
          </a:p>
        </p:txBody>
      </p:sp>
      <p:sp>
        <p:nvSpPr>
          <p:cNvPr id="19" name="Text 15"/>
          <p:cNvSpPr/>
          <p:nvPr/>
        </p:nvSpPr>
        <p:spPr>
          <a:xfrm>
            <a:off x="9873010" y="2820807"/>
            <a:ext cx="360395" cy="69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Прогноз</a:t>
            </a:r>
            <a:endParaRPr lang="en-US" sz="400" dirty="0"/>
          </a:p>
        </p:txBody>
      </p:sp>
      <p:sp>
        <p:nvSpPr>
          <p:cNvPr id="20" name="Text 16"/>
          <p:cNvSpPr/>
          <p:nvPr/>
        </p:nvSpPr>
        <p:spPr>
          <a:xfrm>
            <a:off x="9421282" y="2820807"/>
            <a:ext cx="360395" cy="69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Аномалии</a:t>
            </a:r>
            <a:endParaRPr lang="en-US" sz="400" dirty="0"/>
          </a:p>
        </p:txBody>
      </p:sp>
      <p:sp>
        <p:nvSpPr>
          <p:cNvPr id="21" name="Text 17"/>
          <p:cNvSpPr/>
          <p:nvPr/>
        </p:nvSpPr>
        <p:spPr>
          <a:xfrm>
            <a:off x="8959681" y="2820807"/>
            <a:ext cx="360395" cy="69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Данные</a:t>
            </a:r>
            <a:endParaRPr lang="en-US" sz="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4741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Результаты анализа превращаются в рекомендации для специалистов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1746250"/>
            <a:ext cx="4907137" cy="4646910"/>
          </a:xfrm>
          <a:prstGeom prst="roundRect">
            <a:avLst>
              <a:gd name="adj" fmla="val 2563"/>
            </a:avLst>
          </a:prstGeom>
          <a:solidFill>
            <a:srgbClr val="17B8A0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1911548"/>
            <a:ext cx="457654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Что предлагает ИИ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2335312"/>
            <a:ext cx="4576549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Конкретные шаги: отрегулировать параметр, проверить оборудование, изменить режим работы. Не абстрактный сигнал тревоги — а адресное действие с обоснованием.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07710" y="3356471"/>
            <a:ext cx="4576549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07710" y="3602831"/>
            <a:ext cx="457654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Роль инженера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7710" y="4026595"/>
            <a:ext cx="4576549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Инженер принимает решение, опираясь на данные и собственный опыт. ИИ предоставляет контекст — человек несёт ответственность за выбор.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02267" y="1937345"/>
            <a:ext cx="248041" cy="24804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77612" y="1932285"/>
            <a:ext cx="525885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Сигнал от датчика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77612" y="2356048"/>
            <a:ext cx="525885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Аномальное значение вибрации на компрессоре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2267" y="2956421"/>
            <a:ext cx="248041" cy="2480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77612" y="2951361"/>
            <a:ext cx="525885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Анализ ИИ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277612" y="3375124"/>
            <a:ext cx="525885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Паттерн соответствует начальной стадии износа подшипника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02267" y="3975497"/>
            <a:ext cx="248041" cy="24804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77612" y="3970437"/>
            <a:ext cx="525885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Рекомендация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277612" y="4394200"/>
            <a:ext cx="525885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Провести диагностику в течение 72 часов, подготовить запасную часть</a:t>
            </a:r>
            <a:endParaRPr lang="en-US" sz="13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02267" y="5259189"/>
            <a:ext cx="248041" cy="24804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77612" y="5254129"/>
            <a:ext cx="525885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Решение инженера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6277612" y="5677892"/>
            <a:ext cx="525885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Подтвердить, скорректировать и выполнить с учётом производственного контекста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104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Основные сценарии применения цифрового аватара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88467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Каждый сценарий решает конкретную производственную задачу. Комбинированное применение усиливает совокупный эффект.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1839119"/>
            <a:ext cx="5351725" cy="2156222"/>
          </a:xfrm>
          <a:prstGeom prst="roundRect">
            <a:avLst>
              <a:gd name="adj" fmla="val 322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3119" y="2010767"/>
            <a:ext cx="496081" cy="496094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9541" y="2147094"/>
            <a:ext cx="223237" cy="2232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3119" y="2672159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Оптимизация добычи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3119" y="3029843"/>
            <a:ext cx="500843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Непрерывная настройка режимов работы скважин и оборудования для максимизации дебита при заданных ограничениях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8495" y="1839119"/>
            <a:ext cx="5351725" cy="2156222"/>
          </a:xfrm>
          <a:prstGeom prst="roundRect">
            <a:avLst>
              <a:gd name="adj" fmla="val 322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50139" y="2010767"/>
            <a:ext cx="496081" cy="496094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6561" y="2147094"/>
            <a:ext cx="223237" cy="2232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50139" y="2672159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Предиктивное обслуживание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350139" y="3029843"/>
            <a:ext cx="500843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Прогнозирование отказов оборудования до их наступления — переход от планово-предупредительного к состояние-ориентированному ТО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61475" y="4160639"/>
            <a:ext cx="5351725" cy="2156222"/>
          </a:xfrm>
          <a:prstGeom prst="roundRect">
            <a:avLst>
              <a:gd name="adj" fmla="val 322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3119" y="4332288"/>
            <a:ext cx="496081" cy="496094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9541" y="4468614"/>
            <a:ext cx="223237" cy="2232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119" y="4993680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Промышленная безопасность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3119" y="5351363"/>
            <a:ext cx="500843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Раннее обнаружение опасных отклонений, мониторинг критических параметров и автоматическое оповещение персонала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78495" y="4160639"/>
            <a:ext cx="5351725" cy="2156222"/>
          </a:xfrm>
          <a:prstGeom prst="roundRect">
            <a:avLst>
              <a:gd name="adj" fmla="val 322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50139" y="4332288"/>
            <a:ext cx="496081" cy="496094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86561" y="4468614"/>
            <a:ext cx="223237" cy="2232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50139" y="4993680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Снижение энергопотребления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350139" y="5351363"/>
            <a:ext cx="500843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Оптимизация работы компрессоров, насосов и вспомогательных систем для сокращения удельных энергозатрат на добычу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6480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Внедрение следует начинать с одного измеримого пилотного сценария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17328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Принцип пилота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2597051"/>
            <a:ext cx="523266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Выбрать задачу с чётким критерием успеха и ограниченным масштабом. Не пытаться охватить всё месторождение сразу — сосредоточиться на одном процессе, где результат можно измерить.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3882827"/>
            <a:ext cx="5232666" cy="1905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4129187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Логика масштабирования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1475" y="4552950"/>
            <a:ext cx="52326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Накопить опыт и доказать ценность перед расширением. Успешный пилот создаёт доверие к технологии, формирует внутреннюю экспертизу и обосновывает следующий шаг.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3904" y="2194024"/>
            <a:ext cx="872012" cy="1018977"/>
          </a:xfrm>
          <a:prstGeom prst="roundRect">
            <a:avLst>
              <a:gd name="adj" fmla="val 796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3579" y="2587228"/>
            <a:ext cx="232563" cy="23256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41210" y="2359323"/>
            <a:ext cx="40300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Выбор задачи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41210" y="2783086"/>
            <a:ext cx="403006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Чёткий критерий успеха, ограниченный периметр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258563" y="3205063"/>
            <a:ext cx="4195360" cy="9525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3" name="Shape 10"/>
          <p:cNvSpPr/>
          <p:nvPr/>
        </p:nvSpPr>
        <p:spPr>
          <a:xfrm>
            <a:off x="6303904" y="3295650"/>
            <a:ext cx="1744123" cy="1283593"/>
          </a:xfrm>
          <a:prstGeom prst="roundRect">
            <a:avLst>
              <a:gd name="adj" fmla="val 541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59634" y="3821113"/>
            <a:ext cx="232563" cy="23256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213321" y="3460948"/>
            <a:ext cx="315795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Пилот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213321" y="3884712"/>
            <a:ext cx="315795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Реализация, измерение, анализ результатов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130674" y="4571305"/>
            <a:ext cx="3323249" cy="9525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8" name="Shape 14"/>
          <p:cNvSpPr/>
          <p:nvPr/>
        </p:nvSpPr>
        <p:spPr>
          <a:xfrm>
            <a:off x="6303904" y="4661892"/>
            <a:ext cx="2616333" cy="1283593"/>
          </a:xfrm>
          <a:prstGeom prst="roundRect">
            <a:avLst>
              <a:gd name="adj" fmla="val 541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95789" y="5187355"/>
            <a:ext cx="232563" cy="23256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085531" y="4827191"/>
            <a:ext cx="228574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Масштабирование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9085531" y="5250954"/>
            <a:ext cx="228574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Тиражирование на основе доказанной ценности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4377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Цифровой аватар усиливает инженерную экспертизу, а не заменяет её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2325886"/>
            <a:ext cx="5470785" cy="3487638"/>
          </a:xfrm>
          <a:prstGeom prst="roundRect">
            <a:avLst>
              <a:gd name="adj" fmla="val 3414"/>
            </a:avLst>
          </a:prstGeom>
          <a:solidFill>
            <a:srgbClr val="17B8A0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2491184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Что делает ИИ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2914948"/>
            <a:ext cx="514019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Обрабатывает объёмы данных, которые физически недоступны человеку: тысячи параметров одновременно, в реальном времени, без усталости и когнитивных искажений.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07710" y="3936107"/>
            <a:ext cx="5140196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07710" y="4182467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Что остаётся за инженером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7710" y="4606230"/>
            <a:ext cx="514019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Инженер остаётся источником контекста, суждения и ответственности. Понимание физики процесса, производственной истории и операционных ограничений — незаменимо.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3904" y="2511921"/>
            <a:ext cx="2533686" cy="1296293"/>
          </a:xfrm>
          <a:prstGeom prst="roundRect">
            <a:avLst>
              <a:gd name="adj" fmla="val 535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5548" y="2683570"/>
            <a:ext cx="21903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75548" y="3107333"/>
            <a:ext cx="219039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Скорость, масштаб, паттерны, прогноз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02884" y="2511921"/>
            <a:ext cx="2533686" cy="1296293"/>
          </a:xfrm>
          <a:prstGeom prst="roundRect">
            <a:avLst>
              <a:gd name="adj" fmla="val 535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74528" y="2683570"/>
            <a:ext cx="21903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Инженер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74528" y="3107333"/>
            <a:ext cx="219039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Контекст, суждение, ответственность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3904" y="4035524"/>
            <a:ext cx="5232666" cy="1905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551945" y="4430713"/>
            <a:ext cx="498462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Цифровой аватар — это инструмент усиления человеческой экспертизы, а не её замена. Наибольший эффект достигается там, где технология и опыт работают вместе.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3904" y="4281884"/>
            <a:ext cx="19050" cy="1091505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2026-09-02T20:02:13Z</dcterms:created>
  <dcterms:modified xsi:type="dcterms:W3CDTF">2026-09-02T20:02:13Z</dcterms:modified>
</cp:coreProperties>
</file>