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Рабочее определение: цифровой аватар — актуализируемое цифровое представление конкретного месторождения и связанных объектов, объединяющее наблюдаемые данные и модели для анализа состояния, сценариев и поддержки решений. «Цифровой аватар» здесь — рабочая рамка, а не отдельная категория ISO.
Sources
• ISO/IEC 30173:2023 — https://www.iso.org/standard/81442.html
• NIST Digital twins — https://www.nist.gov/digital-twins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Группы данных — презентационная классификация, не нормативный перечень. Ключевой тезис: данные нужно связать с объектом, временем и производственным контекстом; качество и интеграция также требуют управления.
Sources
• ISO/IEC 30173:2023 — https://www.iso.org/standard/81442.html
• DNV-RP-A204 — https://www.dnv.com/energy/standards-guidelines/dnv-rp-a204-assurance-of-digital-twins/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сама по себе не обязана быть цифровым двойником; дашборд визуализирует данные. Рабочий «аватар» связывает актуальное состояние конкретного объекта с моделями. Не утверждаем, что прогнозирование или оптимизация присутствуют автоматически.
Sources
• ISO/IEC 30173:2023 — https://www.iso.org/standard/81442.html
• NIST Digital twins — https://www.nist.gov/digital-twins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ISO/IEC 30141 задаёт референсную архитектуру IoT и набор представлений. Слайд намеренно упрощает её до производственно понятного пути сигнала; это не нормативная архитектурная схема.
Sources
• ISO/IEC 30141:2024 — https://www.iso.org/standard/88800.html
• DNV digital twin assurance practices — https://www.dnv.com/energy/services/digital-twins/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Функции digital twin могут включать forecasting, simulation, monitoring, optimization и decision support. В презентации мы не приписываем все эти функции именно ИИ: часть может быть реализована физическими, статистическими, оптимизационными или rule-based моделями.
Sources
• NIST Digital twins — https://www.nist.gov/digital-twins
• DNV — assurance of machine-learning applications and simulation models — https://www.dnv.com/energy/services/digital-twins/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DNV-RP-A204 фокусируется на trustworthy output и риске опоры на информацию цифрового двойника. Поэтому главный объект управления — не только качество модели, но и процесс использования её результатов в реальном решении.
Sources
• DNV-RP-A204 — https://www.dnv.com/energy/standards-guidelines/dnv-rp-a204-assurance-of-digital-twins/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Пилотная логика — методический вывод презентации, а не цитата из стандарта. DNV подтверждает необходимость assurance на всём жизненном цикле, включая качество, интеграцию, эксплуатацию и риск использования информации. Мы сознательно не приводим универсальные проценты эффекта.
Sources
• DNV-RP-A204 — https://www.dnv.com/energy/standards-guidelines/dnv-rp-a204-assurance-of-digital-twins/
• DNV digital twin assurance practices — https://www.dnv.com/energy/services/digital-twins/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акцент — доверие к данным и результатам, объяснимость в контексте применения и сохранение управляемой ответственности. Не утверждаем, что человек должен вручную утверждать абсолютно каждое низкоуровневое действие; это зависит от критичности и архитектуры конкретной системы.
Sources
• DNV-RP-A204 — https://www.dnv.com/energy/standards-guidelines/dnv-rp-a204-assurance-of-digital-twins/
• ISO/IEC 30173:2023 — https://www.iso.org/standard/81442.html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3B8B2"/>
          </a:solidFill>
          <a:ln w="12700">
            <a:solidFill>
              <a:srgbClr val="13B8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1727D"/>
                </a:solidFill>
              </a:rPr>
              <a:t>ЦИФРОВОЙ АВАТАР МЕСТОРОЖДЕНИЯ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3B8B2"/>
          </a:solidFill>
          <a:ln w="12700">
            <a:solidFill>
              <a:srgbClr val="13B8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64008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ЦИФРОВОЙ АВАТАР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МЕСТОРОЖДЕНИЯ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423160"/>
            <a:ext cx="5852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7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ИИ и IoT связывают данные, модели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7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производственные решения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60920" y="685800"/>
            <a:ext cx="4114800" cy="5303520"/>
          </a:xfrm>
          <a:prstGeom prst="roundRect">
            <a:avLst>
              <a:gd name="adj" fmla="val 1778"/>
            </a:avLst>
          </a:prstGeom>
          <a:solidFill>
            <a:srgbClr val="153A58"/>
          </a:solidFill>
          <a:ln w="15240">
            <a:solidFill>
              <a:srgbClr val="2B59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26680" y="3008376"/>
            <a:ext cx="3383280" cy="822960"/>
          </a:xfrm>
          <a:prstGeom prst="rect">
            <a:avLst/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65008" y="2103120"/>
            <a:ext cx="2638958" cy="0"/>
          </a:xfrm>
          <a:prstGeom prst="line">
            <a:avLst/>
          </a:prstGeom>
          <a:noFill/>
          <a:ln w="31750">
            <a:solidFill>
              <a:srgbClr val="102A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03336" y="1636776"/>
            <a:ext cx="0" cy="1508760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03336" y="3145536"/>
            <a:ext cx="304495" cy="32918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16822" y="1636776"/>
            <a:ext cx="0" cy="1508760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16822" y="3145536"/>
            <a:ext cx="304495" cy="32918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30307" y="1636776"/>
            <a:ext cx="0" cy="1508760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0307" y="3145536"/>
            <a:ext cx="304495" cy="32918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E6E72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581912"/>
            <a:ext cx="128016" cy="128016"/>
          </a:xfrm>
          <a:prstGeom prst="ellipse">
            <a:avLst/>
          </a:prstGeom>
          <a:solidFill>
            <a:srgbClr val="5AD2CC"/>
          </a:solidFill>
          <a:ln w="12700">
            <a:solidFill>
              <a:srgbClr val="5AD2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25712" y="1581912"/>
            <a:ext cx="128016" cy="128016"/>
          </a:xfrm>
          <a:prstGeom prst="ellipse">
            <a:avLst/>
          </a:prstGeom>
          <a:solidFill>
            <a:srgbClr val="5AD2CC"/>
          </a:solidFill>
          <a:ln w="12700">
            <a:solidFill>
              <a:srgbClr val="5AD2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40112" y="1581912"/>
            <a:ext cx="128016" cy="128016"/>
          </a:xfrm>
          <a:prstGeom prst="ellipse">
            <a:avLst/>
          </a:prstGeom>
          <a:solidFill>
            <a:srgbClr val="5AD2CC"/>
          </a:solidFill>
          <a:ln w="12700">
            <a:solidFill>
              <a:srgbClr val="5AD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2587752"/>
            <a:ext cx="128016" cy="128016"/>
          </a:xfrm>
          <a:prstGeom prst="ellipse">
            <a:avLst/>
          </a:prstGeom>
          <a:solidFill>
            <a:srgbClr val="5AD2CC"/>
          </a:solidFill>
          <a:ln w="12700">
            <a:solidFill>
              <a:srgbClr val="5AD2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25712" y="2587752"/>
            <a:ext cx="128016" cy="128016"/>
          </a:xfrm>
          <a:prstGeom prst="ellipse">
            <a:avLst/>
          </a:prstGeom>
          <a:solidFill>
            <a:srgbClr val="5AD2CC"/>
          </a:solidFill>
          <a:ln w="12700">
            <a:solidFill>
              <a:srgbClr val="5AD2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40112" y="2587752"/>
            <a:ext cx="128016" cy="128016"/>
          </a:xfrm>
          <a:prstGeom prst="ellipse">
            <a:avLst/>
          </a:prstGeom>
          <a:solidFill>
            <a:srgbClr val="5AD2CC"/>
          </a:solidFill>
          <a:ln w="12700">
            <a:solidFill>
              <a:srgbClr val="5AD2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4297680"/>
            <a:ext cx="2286000" cy="0"/>
          </a:xfrm>
          <a:prstGeom prst="line">
            <a:avLst/>
          </a:prstGeom>
          <a:noFill/>
          <a:ln w="25400">
            <a:solidFill>
              <a:srgbClr val="5AD2C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4672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СОСТОЯНИЕ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МОДЕЛИ + ИИ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75320" y="51663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0184" y="5193792"/>
            <a:ext cx="235915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 СПЕЦИАЛИСТА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 месторождения становятся полезны, когда описывают объект в едином контексте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Само наличие телеметрии и информационных систем ещё не создаёт цифровой аватар.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3992270"/>
            <a:ext cx="5029200" cy="1014984"/>
          </a:xfrm>
          <a:prstGeom prst="rect">
            <a:avLst/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75788"/>
            <a:ext cx="3922776" cy="0"/>
          </a:xfrm>
          <a:prstGeom prst="line">
            <a:avLst/>
          </a:prstGeom>
          <a:noFill/>
          <a:ln w="31750">
            <a:solidFill>
              <a:srgbClr val="102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300630"/>
            <a:ext cx="0" cy="1860804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4161434"/>
            <a:ext cx="452628" cy="40599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9524" y="2300630"/>
            <a:ext cx="0" cy="1860804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9524" y="4161434"/>
            <a:ext cx="452628" cy="40599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2300630"/>
            <a:ext cx="0" cy="1860804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4161434"/>
            <a:ext cx="452628" cy="40599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087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1536192"/>
            <a:ext cx="103327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Технологические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4173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444752"/>
            <a:ext cx="103327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Скважины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7373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1764792"/>
            <a:ext cx="103327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Оборудование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9834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5010912"/>
            <a:ext cx="103327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Геология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52578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5285232"/>
            <a:ext cx="103327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Обслуживание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489204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4919472"/>
            <a:ext cx="103327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Внешние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условия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48920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Единый производственный контекст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766560" y="2606040"/>
            <a:ext cx="402336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какой объект и где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 какому моменту относится сигнал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 каким режимом и состоянием связан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насколько данным можно доверять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12280" y="4480560"/>
            <a:ext cx="3931920" cy="0"/>
          </a:xfrm>
          <a:prstGeom prst="line">
            <a:avLst/>
          </a:prstGeom>
          <a:noFill/>
          <a:ln w="25400">
            <a:solidFill>
              <a:srgbClr val="13B8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709160"/>
            <a:ext cx="4023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 связывает разрозненные сигналы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 конкретным состоянием объекта.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Цифровой аватар отражает состояние объекта и позволяет исследовать возможные сценарии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«Аватар» — рабочая рамка; сценарии доступны только при наличии соответствующих моделей.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1691640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1691640"/>
            <a:ext cx="3886200" cy="4069080"/>
          </a:xfrm>
          <a:prstGeom prst="roundRect">
            <a:avLst>
              <a:gd name="adj" fmla="val 1882"/>
            </a:avLst>
          </a:prstGeom>
          <a:solidFill>
            <a:srgbClr val="EAF8F7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ДАШБОРД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926080"/>
            <a:ext cx="2011680" cy="-137160"/>
          </a:xfrm>
          <a:prstGeom prst="line">
            <a:avLst/>
          </a:prstGeom>
          <a:noFill/>
          <a:ln w="21590">
            <a:solidFill>
              <a:srgbClr val="10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429000"/>
            <a:ext cx="2011680" cy="-45720"/>
          </a:xfrm>
          <a:prstGeom prst="line">
            <a:avLst/>
          </a:prstGeom>
          <a:noFill/>
          <a:ln w="21590">
            <a:solidFill>
              <a:srgbClr val="13B8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931920"/>
            <a:ext cx="2011680" cy="45720"/>
          </a:xfrm>
          <a:prstGeom prst="line">
            <a:avLst/>
          </a:prstGeom>
          <a:noFill/>
          <a:ln w="2159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800600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Показывает данные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тренды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МАТЕМАТИЧЕСКАЯ МОДЕЛЬ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4206240"/>
            <a:ext cx="2011680" cy="-1188720"/>
          </a:xfrm>
          <a:prstGeom prst="line">
            <a:avLst/>
          </a:prstGeom>
          <a:noFill/>
          <a:ln w="17780">
            <a:solidFill>
              <a:srgbClr val="13B8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3886200"/>
            <a:ext cx="2011680" cy="-777240"/>
          </a:xfrm>
          <a:prstGeom prst="line">
            <a:avLst/>
          </a:prstGeom>
          <a:noFill/>
          <a:ln w="17780">
            <a:solidFill>
              <a:srgbClr val="CBD7D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480560" y="3566160"/>
            <a:ext cx="2011680" cy="-365760"/>
          </a:xfrm>
          <a:prstGeom prst="line">
            <a:avLst/>
          </a:prstGeom>
          <a:noFill/>
          <a:ln w="17780">
            <a:solidFill>
              <a:srgbClr val="CBD7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480560" y="3246120"/>
            <a:ext cx="2011680" cy="45720"/>
          </a:xfrm>
          <a:prstGeom prst="line">
            <a:avLst/>
          </a:prstGeom>
          <a:noFill/>
          <a:ln w="17780">
            <a:solidFill>
              <a:srgbClr val="CBD7D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43400" y="4754880"/>
            <a:ext cx="2423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Рассчитывает поведение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заданных условиях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266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ЦИФРОВОЙ АВАТАР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3386938"/>
            <a:ext cx="3108960" cy="425196"/>
          </a:xfrm>
          <a:prstGeom prst="rect">
            <a:avLst/>
          </a:prstGeom>
          <a:solidFill>
            <a:srgbClr val="DDE9E8"/>
          </a:solidFill>
          <a:ln w="12700">
            <a:solidFill>
              <a:srgbClr val="DDE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2919222"/>
            <a:ext cx="2424989" cy="0"/>
          </a:xfrm>
          <a:prstGeom prst="line">
            <a:avLst/>
          </a:prstGeom>
          <a:noFill/>
          <a:ln w="31750">
            <a:solidFill>
              <a:srgbClr val="102A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9912" y="2678278"/>
            <a:ext cx="0" cy="779526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9912" y="3457804"/>
            <a:ext cx="279806" cy="170078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9331" y="2678278"/>
            <a:ext cx="0" cy="779526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9331" y="3457804"/>
            <a:ext cx="279806" cy="170078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18750" y="2678278"/>
            <a:ext cx="0" cy="779526"/>
          </a:xfrm>
          <a:prstGeom prst="line">
            <a:avLst/>
          </a:prstGeom>
          <a:noFill/>
          <a:ln w="38100">
            <a:solidFill>
              <a:srgbClr val="102A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18750" y="3457804"/>
            <a:ext cx="279806" cy="170078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Актуальные данные + модели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1812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Состояние • прогноз • сценарии*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18120" y="5532120"/>
            <a:ext cx="3108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если предусмотрены моделями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соединяет физические процессы с цифровой моделью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— Internet of Things, Интернет вещей: архитектура связи физического и цифрового мира.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88720" y="2926080"/>
            <a:ext cx="9326880" cy="0"/>
          </a:xfrm>
          <a:prstGeom prst="line">
            <a:avLst/>
          </a:prstGeom>
          <a:noFill/>
          <a:ln w="63500">
            <a:solidFill>
              <a:srgbClr val="CBD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14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ОБЪЕКТ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2514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2316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ИЗМЕРЕНИЕ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СБОР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2514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ПЕРЕДАЧА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25146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0956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32720" y="2514600"/>
            <a:ext cx="822960" cy="822960"/>
          </a:xfrm>
          <a:prstGeom prst="ellipse">
            <a:avLst/>
          </a:prstGeom>
          <a:solidFill>
            <a:srgbClr val="13B8B2"/>
          </a:solidFill>
          <a:ln w="25400">
            <a:solidFill>
              <a:srgbClr val="13B8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1268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4754880"/>
            <a:ext cx="83210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Датчик не «говорит» с моделью напрямую: сигнал нужно получить, передать, связать с объектом и проверить.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ИИ помогает обнаруживать отклонения, прогнозировать развитие и сравнивать варианты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каждая аналитическая функция требует машинного обучения: ИИ дополняет инженерные и математические модели.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5394960"/>
            <a:ext cx="7498080" cy="0"/>
          </a:xfrm>
          <a:prstGeom prst="line">
            <a:avLst/>
          </a:prstGeom>
          <a:noFill/>
          <a:ln w="19050">
            <a:solidFill>
              <a:srgbClr val="102A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0" cy="3383280"/>
          </a:xfrm>
          <a:prstGeom prst="line">
            <a:avLst/>
          </a:prstGeom>
          <a:noFill/>
          <a:ln w="19050">
            <a:solidFill>
              <a:srgbClr val="102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447642"/>
            <a:ext cx="899770" cy="-16916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22730" y="4278478"/>
            <a:ext cx="899770" cy="101498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22499" y="4379976"/>
            <a:ext cx="899770" cy="-40599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2269" y="3973982"/>
            <a:ext cx="899770" cy="135331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2038" y="4109314"/>
            <a:ext cx="899770" cy="-811987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21808" y="3297326"/>
            <a:ext cx="749808" cy="-202997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9512" y="3215030"/>
            <a:ext cx="164592" cy="164592"/>
          </a:xfrm>
          <a:prstGeom prst="ellipse">
            <a:avLst/>
          </a:prstGeom>
          <a:solidFill>
            <a:srgbClr val="D9675D"/>
          </a:solidFill>
          <a:ln w="12700">
            <a:solidFill>
              <a:srgbClr val="D967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1962" y="2620670"/>
            <a:ext cx="1097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отклонение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3094330"/>
            <a:ext cx="2099462" cy="-135331"/>
          </a:xfrm>
          <a:prstGeom prst="line">
            <a:avLst/>
          </a:prstGeom>
          <a:noFill/>
          <a:ln w="2540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71616" y="3094330"/>
            <a:ext cx="2099462" cy="405994"/>
          </a:xfrm>
          <a:prstGeom prst="line">
            <a:avLst/>
          </a:prstGeom>
          <a:noFill/>
          <a:ln w="25400">
            <a:solidFill>
              <a:srgbClr val="61727D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71616" y="3094330"/>
            <a:ext cx="2099462" cy="947318"/>
          </a:xfrm>
          <a:prstGeom prst="line">
            <a:avLst/>
          </a:prstGeom>
          <a:noFill/>
          <a:ln w="25400">
            <a:solidFill>
              <a:srgbClr val="61727D"/>
            </a:solidFill>
            <a:prstDash val="dash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0584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наблюдение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5577840"/>
            <a:ext cx="2011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прогноз / сценарии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69680" y="1828800"/>
            <a:ext cx="2423160" cy="384048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ОБНАРУЖЕНИЕ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2450592"/>
            <a:ext cx="18745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отличается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ожидаемого?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0" y="3227832"/>
            <a:ext cx="1874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ПРОГНОЗ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3529584"/>
            <a:ext cx="18745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может развиваться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состояние?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0" y="4306824"/>
            <a:ext cx="1874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4608576"/>
            <a:ext cx="18745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показывает модель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разных воздействиях?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Ценность возникает, когда анализ улучшает производственное решение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Прогноз сам по себе не меняет месторождение — нужен управляемый контур решения и обратной связи.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57800" y="1481328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21808" y="1554480"/>
            <a:ext cx="15179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НАБЛЮДЕНИЕ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78486" y="1871832"/>
            <a:ext cx="1714390" cy="463180"/>
          </a:xfrm>
          <a:prstGeom prst="line">
            <a:avLst/>
          </a:prstGeom>
          <a:noFill/>
          <a:ln w="2032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22946" y="2228393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86954" y="2301545"/>
            <a:ext cx="15179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39466" y="2703826"/>
            <a:ext cx="666707" cy="755715"/>
          </a:xfrm>
          <a:prstGeom prst="line">
            <a:avLst/>
          </a:prstGeom>
          <a:noFill/>
          <a:ln w="2032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98280" y="3447288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2288" y="3520440"/>
            <a:ext cx="15179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РЕКОМЕНДАЦИЯ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727680" y="3922721"/>
            <a:ext cx="-666707" cy="755715"/>
          </a:xfrm>
          <a:prstGeom prst="line">
            <a:avLst/>
          </a:prstGeom>
          <a:noFill/>
          <a:ln w="2032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22946" y="4666183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EAF8F7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6954" y="4739335"/>
            <a:ext cx="15179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48179" y="5056687"/>
            <a:ext cx="-1714390" cy="463180"/>
          </a:xfrm>
          <a:prstGeom prst="line">
            <a:avLst/>
          </a:prstGeom>
          <a:noFill/>
          <a:ln w="2032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5413248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5486400"/>
            <a:ext cx="15179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ДЕЙСТВИЕ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83034" y="5534808"/>
            <a:ext cx="-1714390" cy="-463180"/>
          </a:xfrm>
          <a:prstGeom prst="line">
            <a:avLst/>
          </a:prstGeom>
          <a:noFill/>
          <a:ln w="2032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92654" y="4666183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6662" y="4739335"/>
            <a:ext cx="15179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НОВЫЙ СИГНАЛ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13341" y="4348941"/>
            <a:ext cx="1714390" cy="-1974610"/>
          </a:xfrm>
          <a:prstGeom prst="line">
            <a:avLst/>
          </a:prstGeom>
          <a:noFill/>
          <a:ln w="2032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83480" y="2834640"/>
            <a:ext cx="2194560" cy="1737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СПЕЦИАЛИСТ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7492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человек остаётся в контуре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принятия решения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Пилот следует начинать с процесса, где результат можно измерить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с «платформы на всё месторождение», а с проверяемой гипотезы вокруг одного решения.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0392" y="2505456"/>
            <a:ext cx="914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ПРОЦЕСС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2606040"/>
            <a:ext cx="274320" cy="109728"/>
          </a:xfrm>
          <a:prstGeom prst="line">
            <a:avLst/>
          </a:prstGeom>
          <a:noFill/>
          <a:ln w="1905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2304288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59152" y="2615184"/>
            <a:ext cx="914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БАЗОВЫЙ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УРОВЕНЬ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715768"/>
            <a:ext cx="274320" cy="109728"/>
          </a:xfrm>
          <a:prstGeom prst="line">
            <a:avLst/>
          </a:prstGeom>
          <a:noFill/>
          <a:ln w="1905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2414016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67912" y="2724912"/>
            <a:ext cx="914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825496"/>
            <a:ext cx="274320" cy="109728"/>
          </a:xfrm>
          <a:prstGeom prst="line">
            <a:avLst/>
          </a:prstGeom>
          <a:noFill/>
          <a:ln w="1905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2523744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76672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2935224"/>
            <a:ext cx="274320" cy="109728"/>
          </a:xfrm>
          <a:prstGeom prst="line">
            <a:avLst/>
          </a:prstGeom>
          <a:noFill/>
          <a:ln w="1905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20840" y="2633472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AF8F7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2944368"/>
            <a:ext cx="914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3044952"/>
            <a:ext cx="274320" cy="109728"/>
          </a:xfrm>
          <a:prstGeom prst="line">
            <a:avLst/>
          </a:prstGeom>
          <a:noFill/>
          <a:ln w="1905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0" y="27432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AF8F7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94192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КРИТЕРИЙ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УСПЕХА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38360" y="2148840"/>
            <a:ext cx="1783080" cy="2148840"/>
          </a:xfrm>
          <a:prstGeom prst="roundRect">
            <a:avLst>
              <a:gd name="adj" fmla="val 4103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2468880"/>
            <a:ext cx="14173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ПОДТВЕРЖДЁН?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625328" y="4297680"/>
            <a:ext cx="0" cy="914400"/>
          </a:xfrm>
          <a:prstGeom prst="line">
            <a:avLst/>
          </a:prstGeom>
          <a:noFill/>
          <a:ln w="25400">
            <a:solidFill>
              <a:srgbClr val="13B8B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55480" y="53492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13B8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10344" y="5376672"/>
            <a:ext cx="20391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МАСШТАБИРОВАНИЕ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38360" y="3246120"/>
            <a:ext cx="-960120" cy="1051560"/>
          </a:xfrm>
          <a:prstGeom prst="line">
            <a:avLst/>
          </a:prstGeom>
          <a:noFill/>
          <a:ln w="21590">
            <a:solidFill>
              <a:srgbClr val="D9675D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94944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→ пересмотр гипотезы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4983480"/>
            <a:ext cx="65836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Критерий успеха задаётся до теста — без универсальных процентов и заранее обещанного ROI.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Цифровой аватар усиливает инженерную экспертизу, а не заменяет её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Три принципа, которые делают цифровую поддержку решений практически применимой.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80760" y="1965960"/>
            <a:ext cx="-3246120" cy="3108960"/>
          </a:xfrm>
          <a:prstGeom prst="line">
            <a:avLst/>
          </a:prstGeom>
          <a:noFill/>
          <a:ln w="25400">
            <a:solidFill>
              <a:srgbClr val="CBD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5074920"/>
            <a:ext cx="6492240" cy="0"/>
          </a:xfrm>
          <a:prstGeom prst="line">
            <a:avLst/>
          </a:prstGeom>
          <a:noFill/>
          <a:ln w="25400">
            <a:solidFill>
              <a:srgbClr val="CBD7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5074920"/>
            <a:ext cx="-3246120" cy="-3108960"/>
          </a:xfrm>
          <a:prstGeom prst="line">
            <a:avLst/>
          </a:prstGeom>
          <a:noFill/>
          <a:ln w="25400">
            <a:solidFill>
              <a:srgbClr val="CBD7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0" y="1280160"/>
            <a:ext cx="2194560" cy="1371600"/>
          </a:xfrm>
          <a:prstGeom prst="ellipse">
            <a:avLst/>
          </a:prstGeom>
          <a:solidFill>
            <a:srgbClr val="EAF8F7"/>
          </a:solidFill>
          <a:ln w="22860">
            <a:solidFill>
              <a:srgbClr val="13B8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ПРОВЕРЯЕМЫЕ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984248"/>
            <a:ext cx="19202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Понятно, на какой информации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основан вывод.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4389120"/>
            <a:ext cx="2194560" cy="13716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4617720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ОБЪЯСНИМЫЕ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РЕКОМЕНДАЦИИ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5093208"/>
            <a:ext cx="19202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Специалист понимает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основание для действия.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4389120"/>
            <a:ext cx="2194560" cy="13716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4617720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ОТВЕТСТВЕННОСТЬ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ЧЕЛОВЕКА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5093208"/>
            <a:ext cx="19202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 остаётся частью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1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управляемого процесса.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83480" y="3246120"/>
            <a:ext cx="2194560" cy="12344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47472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ИНЖЕНЕРНАЯ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ЭКСПЕРТИЗА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5806440"/>
            <a:ext cx="5669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— более полное и проверяемое основание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следующего производственного решения.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172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2026-09-02T20:21:06Z</dcterms:created>
  <dcterms:modified xsi:type="dcterms:W3CDTF">2026-09-02T20:21:06Z</dcterms:modified>
</cp:coreProperties>
</file>