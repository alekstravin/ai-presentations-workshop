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c3113c5c314e68" /><Relationship Type="http://schemas.openxmlformats.org/officeDocument/2006/relationships/extended-properties" Target="/docProps/app.xml" Id="R9103880a36374fcd" /><Relationship Type="http://schemas.openxmlformats.org/officeDocument/2006/relationships/officeDocument" Target="/ppt/presentation.xml" Id="R7ba993225f6646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21cb8209c14969"/>
  </p:sldMasterIdLst>
  <p:notesMasterIdLst>
    <p:notesMasterId xmlns:r="http://schemas.openxmlformats.org/officeDocument/2006/relationships" r:id="Rda7c09cc340b4fb2"/>
  </p:notesMasterIdLst>
  <p:sldIdLst>
    <p:sldId xmlns:r="http://schemas.openxmlformats.org/officeDocument/2006/relationships" id="256" r:id="Rd5ab22c9d8fc4642"/>
    <p:sldId xmlns:r="http://schemas.openxmlformats.org/officeDocument/2006/relationships" id="257" r:id="R4199186c087940bd"/>
    <p:sldId xmlns:r="http://schemas.openxmlformats.org/officeDocument/2006/relationships" id="258" r:id="R677a830c24864279"/>
    <p:sldId xmlns:r="http://schemas.openxmlformats.org/officeDocument/2006/relationships" id="259" r:id="R91f042d39fc746fb"/>
    <p:sldId xmlns:r="http://schemas.openxmlformats.org/officeDocument/2006/relationships" id="260" r:id="R2a3e3630ad534552"/>
    <p:sldId xmlns:r="http://schemas.openxmlformats.org/officeDocument/2006/relationships" id="261" r:id="R2f4323e50b554b08"/>
    <p:sldId xmlns:r="http://schemas.openxmlformats.org/officeDocument/2006/relationships" id="262" r:id="Re78bed45ec064b5b"/>
    <p:sldId xmlns:r="http://schemas.openxmlformats.org/officeDocument/2006/relationships" id="263" r:id="R9988ac4732b4471b"/>
    <p:sldId xmlns:r="http://schemas.openxmlformats.org/officeDocument/2006/relationships" id="264" r:id="R3396c224c2b8458b"/>
    <p:sldId xmlns:r="http://schemas.openxmlformats.org/officeDocument/2006/relationships" id="265" r:id="R2843f109dbfb40be"/>
    <p:sldId xmlns:r="http://schemas.openxmlformats.org/officeDocument/2006/relationships" id="266" r:id="R954fa6ea425741ad"/>
    <p:sldId xmlns:r="http://schemas.openxmlformats.org/officeDocument/2006/relationships" id="267" r:id="Red6a610c8d4546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1a058599e542ea" /><Relationship Type="http://schemas.openxmlformats.org/officeDocument/2006/relationships/slideMaster" Target="/ppt/slideMasters/slideMaster1.xml" Id="R2621cb8209c14969" /><Relationship Type="http://schemas.openxmlformats.org/officeDocument/2006/relationships/notesMaster" Target="/ppt/notesMasters/notesMaster1.xml" Id="Rda7c09cc340b4fb2" /><Relationship Type="http://schemas.openxmlformats.org/officeDocument/2006/relationships/presProps" Target="/ppt/presProps.xml" Id="R0f09c18764b6464a" /><Relationship Type="http://schemas.openxmlformats.org/officeDocument/2006/relationships/viewProps" Target="/ppt/viewProps.xml" Id="Rb6687a785d44492b" /><Relationship Type="http://schemas.openxmlformats.org/officeDocument/2006/relationships/tableStyles" Target="/ppt/tableStyles.xml" Id="R0cd55f02bc8a4bdb" /><Relationship Type="http://schemas.openxmlformats.org/officeDocument/2006/relationships/slide" Target="/ppt/slides/slide1.xml" Id="Rd5ab22c9d8fc4642" /><Relationship Type="http://schemas.openxmlformats.org/officeDocument/2006/relationships/slide" Target="/ppt/slides/slide2.xml" Id="R4199186c087940bd" /><Relationship Type="http://schemas.openxmlformats.org/officeDocument/2006/relationships/slide" Target="/ppt/slides/slide3.xml" Id="R677a830c24864279" /><Relationship Type="http://schemas.openxmlformats.org/officeDocument/2006/relationships/slide" Target="/ppt/slides/slide4.xml" Id="R91f042d39fc746fb" /><Relationship Type="http://schemas.openxmlformats.org/officeDocument/2006/relationships/slide" Target="/ppt/slides/slide5.xml" Id="R2a3e3630ad534552" /><Relationship Type="http://schemas.openxmlformats.org/officeDocument/2006/relationships/slide" Target="/ppt/slides/slide6.xml" Id="R2f4323e50b554b08" /><Relationship Type="http://schemas.openxmlformats.org/officeDocument/2006/relationships/slide" Target="/ppt/slides/slide7.xml" Id="Re78bed45ec064b5b" /><Relationship Type="http://schemas.openxmlformats.org/officeDocument/2006/relationships/slide" Target="/ppt/slides/slide8.xml" Id="R9988ac4732b4471b" /><Relationship Type="http://schemas.openxmlformats.org/officeDocument/2006/relationships/slide" Target="/ppt/slides/slide9.xml" Id="R3396c224c2b8458b" /><Relationship Type="http://schemas.openxmlformats.org/officeDocument/2006/relationships/slide" Target="/ppt/slides/slide10.xml" Id="R2843f109dbfb40be" /><Relationship Type="http://schemas.openxmlformats.org/officeDocument/2006/relationships/slide" Target="/ppt/slides/slide11.xml" Id="R954fa6ea425741ad" /><Relationship Type="http://schemas.openxmlformats.org/officeDocument/2006/relationships/slide" Target="/ppt/slides/slide12.xml" Id="Red6a610c8d4546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72ba6ff28945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73c338f8924990" /><Relationship Type="http://schemas.openxmlformats.org/officeDocument/2006/relationships/notesMaster" Target="/ppt/notesMasters/notesMaster1.xml" Id="R86a58c3d576c47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b7b156f4304318" /><Relationship Type="http://schemas.openxmlformats.org/officeDocument/2006/relationships/notesMaster" Target="/ppt/notesMasters/notesMaster1.xml" Id="Rb857efbaba0d46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7ba171feaa4e20" /><Relationship Type="http://schemas.openxmlformats.org/officeDocument/2006/relationships/notesMaster" Target="/ppt/notesMasters/notesMaster1.xml" Id="Rdf4ba657a9d74a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cc64a557ae44bf" /><Relationship Type="http://schemas.openxmlformats.org/officeDocument/2006/relationships/notesMaster" Target="/ppt/notesMasters/notesMaster1.xml" Id="R16686875ff2449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4a13975dea443d" /><Relationship Type="http://schemas.openxmlformats.org/officeDocument/2006/relationships/notesMaster" Target="/ppt/notesMasters/notesMaster1.xml" Id="Rd360da2a4a4b43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2adb92f67f4243" /><Relationship Type="http://schemas.openxmlformats.org/officeDocument/2006/relationships/notesMaster" Target="/ppt/notesMasters/notesMaster1.xml" Id="Re44b1be9929c4b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4d6b0ba7af4d6c" /><Relationship Type="http://schemas.openxmlformats.org/officeDocument/2006/relationships/notesMaster" Target="/ppt/notesMasters/notesMaster1.xml" Id="R6e4b34bb106248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64d11e5743447d" /><Relationship Type="http://schemas.openxmlformats.org/officeDocument/2006/relationships/notesMaster" Target="/ppt/notesMasters/notesMaster1.xml" Id="Reb6f2d7dd49a4f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e3a19c876c4333" /><Relationship Type="http://schemas.openxmlformats.org/officeDocument/2006/relationships/notesMaster" Target="/ppt/notesMasters/notesMaster1.xml" Id="Rd3f02587550842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403fa2bfd84e87" /><Relationship Type="http://schemas.openxmlformats.org/officeDocument/2006/relationships/notesMaster" Target="/ppt/notesMasters/notesMaster1.xml" Id="Rfed5ddc449a449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8cc4179b3c4c9b" /><Relationship Type="http://schemas.openxmlformats.org/officeDocument/2006/relationships/notesMaster" Target="/ppt/notesMasters/notesMaster1.xml" Id="Rdd8c39e8f7a045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5087de1e774d7a" /><Relationship Type="http://schemas.openxmlformats.org/officeDocument/2006/relationships/notesMaster" Target="/ppt/notesMasters/notesMaster1.xml" Id="Rb05ade6c8cb44e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[Тезисы]</a:t>
            </a:r>
          </a:p>
          <a:p xmlns:a="http://schemas.openxmlformats.org/drawingml/2006/main">
            <a:r>
              <a:t>• Аватар связывает физический объект, данные и модели.</a:t>
            </a:r>
          </a:p>
          <a:p xmlns:a="http://schemas.openxmlformats.org/drawingml/2006/main">
            <a:r>
              <a:t>• ИИ формирует анализ и рекомендации, а не автономные команды.</a:t>
            </a:r>
          </a:p>
          <a:p xmlns:a="http://schemas.openxmlformats.org/drawingml/2006/main">
            <a:r>
              <a:t>• Ценность возникает в производственном решении.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[Текст для озвучки]</a:t>
            </a:r>
          </a:p>
          <a:p xmlns:a="http://schemas.openxmlformats.org/drawingml/2006/main">
            <a:r>
              <a:t>Сегодня разберём цифровой аватар не как красивую трёхмерную картинку, а как рабочий инструмент инженера. Он соединяет наблюдения с месторождения, контекст оборудования, расчётные модели и производственные ограничения. ИИ в этой системе помогает быстрее увидеть отклонение, оценить возможное развитие и сравнить варианты. Но решение остаётся за специалистом, который понимает технологический режим, риски и цену ошибки.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Авторская структура; внешние фактические утверждения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[Тезисы]</a:t>
            </a:r>
          </a:p>
          <a:p xmlns:a="http://schemas.openxmlformats.org/drawingml/2006/main">
            <a:r>
              <a:t>• Месторождение описывается несколькими профессиональными картинами.</a:t>
            </a:r>
          </a:p>
          <a:p xmlns:a="http://schemas.openxmlformats.org/drawingml/2006/main">
            <a:r>
              <a:t>• Данные различаются по масштабу, частоте и владельцам.</a:t>
            </a:r>
          </a:p>
          <a:p xmlns:a="http://schemas.openxmlformats.org/drawingml/2006/main">
            <a:r>
              <a:t>• Аватар создаёт связь между доменами.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[Текст для озвучки]</a:t>
            </a:r>
          </a:p>
          <a:p xmlns:a="http://schemas.openxmlformats.org/drawingml/2006/main">
            <a:r>
              <a:t>Проблема начинается не с нехватки данных, а с их разобщённости. Геолог видит пласт и динамику разработки, технолог — скважины, сбор и подготовку, эксплуатационная команда — режимы, ремонты и ограничения. Каждая картина правильна, но неполна. Цифровой аватар должен связать эти представления вокруг конкретных объектов и единого времени, чтобы обсуждение шло об одном и том же состоянии системы.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SLB, Integrated Asset Modeling: сложность связана с взаимозависимыми динамическими системами и растущим объёмом данных: https://www.slb.com/resource-library/oilfield-review/defining-series/defining-integrated-asset-modeling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[Тезисы]</a:t>
            </a:r>
          </a:p>
          <a:p xmlns:a="http://schemas.openxmlformats.org/drawingml/2006/main">
            <a:r>
              <a:t>• Каждый источник отвечает на свой инженерный вопрос.</a:t>
            </a:r>
          </a:p>
          <a:p xmlns:a="http://schemas.openxmlformats.org/drawingml/2006/main">
            <a:r>
              <a:t>• Частота обновления определяется задачей.</a:t>
            </a:r>
          </a:p>
          <a:p xmlns:a="http://schemas.openxmlformats.org/drawingml/2006/main">
            <a:r>
              <a:t>• Без контекста сигнал может быть неверно интерпретирован.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[Текст для озвучки]</a:t>
            </a:r>
          </a:p>
          <a:p xmlns:a="http://schemas.openxmlformats.org/drawingml/2006/main">
            <a:r>
              <a:t>На слайде показана практическая карта данных. Телеметрия скважин описывает текущее состояние, датчики оборудования — здоровье актива, технологические системы — баланс потоков, геологические модели — ограничения пласта, а записи ТОиР объясняют изменения режима. Ключевой вопрос не только в наличии значения, но и в его происхождении: к какому объекту оно относится, когда получено, в каких единицах и насколько ему можно доверять.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OPC Foundation, OPC UA Part 1: текущие/исторические данные, alarms/events и общая информационная модель: https://reference.opcfoundation.org/specs/OPC-10000-1/4</a:t>
            </a:r>
          </a:p>
          <a:p xmlns:a="http://schemas.openxmlformats.org/drawingml/2006/main">
            <a:r>
              <a:t>Частоты на слайде — типовые категории, а не нормативные значения; задаются конкретным use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[Тезисы]</a:t>
            </a:r>
          </a:p>
          <a:p xmlns:a="http://schemas.openxmlformats.org/drawingml/2006/main">
            <a:r>
              <a:t>• Модель, дашборд, двойник и аватар — разные сущности.</a:t>
            </a:r>
          </a:p>
          <a:p xmlns:a="http://schemas.openxmlformats.org/drawingml/2006/main">
            <a:r>
              <a:t>• Двойник предполагает синхронизацию с объектом.</a:t>
            </a:r>
          </a:p>
          <a:p xmlns:a="http://schemas.openxmlformats.org/drawingml/2006/main">
            <a:r>
              <a:t>• Аватар — рабочий интерфейс для конкретной роли.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[Текст для озвучки]</a:t>
            </a:r>
          </a:p>
          <a:p xmlns:a="http://schemas.openxmlformats.org/drawingml/2006/main">
            <a:r>
              <a:t>Важно договориться о терминах. Математическая модель вычисляет зависимости. Дашборд визуализирует показатели. Цифровой двойник поддерживает представление конкретного объекта или процесса и синхронизирует его с реальностью с заданной частотой и точностью. Цифровой аватар в этой презентации — прикладное представление двойника для инженера: состояние, прогноз, ограничения, происхождение данных и история решений в одном рабочем контексте.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Digital Twin Consortium, definition: synchronized at a specified frequency and fidelity: https://www.digitaltwinconsortium.org/2020/12/digital-twin-consortium-defines-digital-twin/</a:t>
            </a:r>
          </a:p>
          <a:p xmlns:a="http://schemas.openxmlformats.org/drawingml/2006/main">
            <a:r>
              <a:t>NIST IR 8356, definitions and distinction from traditional modeling: https://tsapps.nist.gov/publication/get_pdf.cfm?pub_id=957183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[Тезисы]</a:t>
            </a:r>
          </a:p>
          <a:p xmlns:a="http://schemas.openxmlformats.org/drawingml/2006/main">
            <a:r>
              <a:t>• Архитектура начинается с данных, а заканчивается действием.</a:t>
            </a:r>
          </a:p>
          <a:p xmlns:a="http://schemas.openxmlformats.org/drawingml/2006/main">
            <a:r>
              <a:t>• Контекст превращает теги в сведения об объектах.</a:t>
            </a:r>
          </a:p>
          <a:p xmlns:a="http://schemas.openxmlformats.org/drawingml/2006/main">
            <a:r>
              <a:t>• Каждый слой требует владельца и контроля версий.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[Текст для озвучки]</a:t>
            </a:r>
          </a:p>
          <a:p xmlns:a="http://schemas.openxmlformats.org/drawingml/2006/main">
            <a:r>
              <a:t>Схема читается слева направо и сверху вниз. Датчики и производственные системы дают телеметрию и события. Контекст связывает их с оборудованием, единицами измерения и режимом. Затем формируется актуальное состояние с историей и признаками качества. Модели и ИИ объясняют ситуацию и строят прогнозы. Последний слой — инженерное решение с ограничениями и действием. Если любой слой неуправляем, доверие ко всему аватару снижается.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Digital Twin Consortium: representation includes correlated models plus metadata/master/reference data; implemented in IT/OT systems: https://www.digitaltwinconsortium.org/2020/12/digital-twin-consortium-defines-digital-twin/</a:t>
            </a:r>
          </a:p>
          <a:p xmlns:a="http://schemas.openxmlformats.org/drawingml/2006/main">
            <a:r>
              <a:t>NIST Essential Elements: sensors, IIoT connectivity and simulation models support synchronization: https://www.nist.gov/digital-twins/essential-elements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[Тезисы]</a:t>
            </a:r>
          </a:p>
          <a:p xmlns:a="http://schemas.openxmlformats.org/drawingml/2006/main">
            <a:r>
              <a:t>• IoT передаёт наблюдения, а не готовые выводы.</a:t>
            </a:r>
          </a:p>
          <a:p xmlns:a="http://schemas.openxmlformats.org/drawingml/2006/main">
            <a:r>
              <a:t>• Контроль качества нужен на каждом переходе.</a:t>
            </a:r>
          </a:p>
          <a:p xmlns:a="http://schemas.openxmlformats.org/drawingml/2006/main">
            <a:r>
              <a:t>• Ответственность распределена между КИПиА, IT/OT и владельцем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[Текст для озвучки]</a:t>
            </a:r>
          </a:p>
          <a:p xmlns:a="http://schemas.openxmlformats.org/drawingml/2006/main">
            <a:r>
              <a:t>Интернет вещей обеспечивает непрерывность наблюдений, но сам по себе не создаёт цифрового состояния. Сначала датчик должен быть исправен и корректно настроен. Затем сигнал передаётся без потерь и с правильной временной меткой. После этого он связывается с моделью актива и текущим режимом. Только тогда временной ряд становится наблюдением цифрового аватара, которое можно использовать в расчётах и инженерной оценке.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OPC Foundation, OPC UA Part 1: secure/reliable information exchange from sensors and control systems to enterprise/cloud: https://reference.opcfoundation.org/specs/OPC-10000-1/4</a:t>
            </a:r>
          </a:p>
          <a:p xmlns:a="http://schemas.openxmlformats.org/drawingml/2006/main">
            <a:r>
              <a:t>Digital Twin Consortium glossary, synchronization and IT/OT platform: https://www.digitaltwinconsortium.org/glossary/glossary/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[Тезисы]</a:t>
            </a:r>
          </a:p>
          <a:p xmlns:a="http://schemas.openxmlformats.org/drawingml/2006/main">
            <a:r>
              <a:t>• Физические модели задают причинные ограничения.</a:t>
            </a:r>
          </a:p>
          <a:p xmlns:a="http://schemas.openxmlformats.org/drawingml/2006/main">
            <a:r>
              <a:t>• Data-driven модели используют историю наблюдений.</a:t>
            </a:r>
          </a:p>
          <a:p xmlns:a="http://schemas.openxmlformats.org/drawingml/2006/main">
            <a:r>
              <a:t>• Гибридный подход сочетает обе стороны.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[Текст для озвучки]</a:t>
            </a:r>
          </a:p>
          <a:p xmlns:a="http://schemas.openxmlformats.org/drawingml/2006/main">
            <a:r>
              <a:t>Для месторождения редко достаточно одной модели. Физические модели хорошо отражают известные законы и ограничения процесса, но нуждаются в калибровке. Data-driven подходы способны находить сложные закономерности и аномалии, но зависят от качества и представительности истории. Гибридные модели используют физику как каркас, а данные — для уточнения параметров и остаточных зависимостей. Выбор определяется задачей, доступными измерениями и критичностью решения.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Interoperability of Digital Twins: models may combine domain expertise, analytics and/or AI: https://tsapps.nist.gov/publication/get_pdf.cfm?pub_id=956427</a:t>
            </a:r>
          </a:p>
          <a:p xmlns:a="http://schemas.openxmlformats.org/drawingml/2006/main">
            <a:r>
              <a:t>DNV-RP-A204 overview: confidence is required in both data and computational models: https://www.dnv.com/news/2020/dnv-launches-industry-first-recommended-practice-on-quality-assurance-of-oil-and-gas-industry-s-digital-twins-189608/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[Тезисы]</a:t>
            </a:r>
          </a:p>
          <a:p xmlns:a="http://schemas.openxmlformats.org/drawingml/2006/main">
            <a:r>
              <a:t>• ИИ обнаруживает, прогнозирует и сравнивает.</a:t>
            </a:r>
          </a:p>
          <a:p xmlns:a="http://schemas.openxmlformats.org/drawingml/2006/main">
            <a:r>
              <a:t>• Результат должен включать уверенность и ограничения.</a:t>
            </a:r>
          </a:p>
          <a:p xmlns:a="http://schemas.openxmlformats.org/drawingml/2006/main">
            <a:r>
              <a:t>• Алгоритм не подменяет инженерную ответственность.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[Текст для озвучки]</a:t>
            </a:r>
          </a:p>
          <a:p xmlns:a="http://schemas.openxmlformats.org/drawingml/2006/main">
            <a:r>
              <a:t>ИИ получает не сырой поток, а подготовленное состояние аватара. Первый класс задач — обнаружить, что режим изменился. Второй — оценить возможную траекторию и горизонт прогноза. Третий — сравнить сценарии при заданных ограничениях. На выходе нужна не просто рекомендация, а также оценка уверенности, применимые границы и данные, на которых вывод основан. Это позволяет инженеру проверить результат, а не принимать его на веру.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Digital Twins: observe, diagnose, predict and provide actionable recommendations: https://www.nist.gov/digital-twins</a:t>
            </a:r>
          </a:p>
          <a:p xmlns:a="http://schemas.openxmlformats.org/drawingml/2006/main">
            <a:r>
              <a:t>NIST credibility paper: verification, validation and uncertainty quantification are needed throughout the lifecycle: https://www.nist.gov/publications/credibility-consideration-digital-twins-manufacturing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[Тезисы]</a:t>
            </a:r>
          </a:p>
          <a:p xmlns:a="http://schemas.openxmlformats.org/drawingml/2006/main">
            <a:r>
              <a:t>• Цикл начинается с наблюдения и заканчивается измеренным результатом.</a:t>
            </a:r>
          </a:p>
          <a:p xmlns:a="http://schemas.openxmlformats.org/drawingml/2006/main">
            <a:r>
              <a:t>• Инженер проверяет гипотезу и допустимость действия.</a:t>
            </a:r>
          </a:p>
          <a:p xmlns:a="http://schemas.openxmlformats.org/drawingml/2006/main">
            <a:r>
              <a:t>• Обратная связь обновляет данные и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[Текст для озвучки]</a:t>
            </a:r>
          </a:p>
          <a:p xmlns:a="http://schemas.openxmlformats.org/drawingml/2006/main">
            <a:r>
              <a:t>Здесь показан замкнутый контур принятия решения. Сначала возникает наблюдение — например, изменение вибрации или режима компрессора. Модель формирует гипотезу и прогноз. Инженер проверяет ограничения: безопасность, технологический режим, достоверность данных и альтернативные объяснения. После согласованного действия измеряется результат. Он возвращается в аватар, уточняет состояние и создаёт материал для последующей проверки модели. Поэтому человек находится не рядом с контуром, а внутри 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Digital Twin Consortium: common synchronization mechanisms still feature a human in the loop: https://www.digitaltwinconsortium.org/2020/12/digital-twin-consortium-defines-digital-twin/</a:t>
            </a:r>
          </a:p>
          <a:p xmlns:a="http://schemas.openxmlformats.org/drawingml/2006/main">
            <a:r>
              <a:t>NIST Validating and Advancement: human-in-the-loop architectures support collaborative informed decisions: https://www.nist.gov/digital-twins/validating-and-advancement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[Тезисы]</a:t>
            </a:r>
          </a:p>
          <a:p xmlns:a="http://schemas.openxmlformats.org/drawingml/2006/main">
            <a:r>
              <a:t>• Пилот решает одну измеримую задачу.</a:t>
            </a:r>
          </a:p>
          <a:p xmlns:a="http://schemas.openxmlformats.org/drawingml/2006/main">
            <a:r>
              <a:t>• Каждый этап имеет результат и ворота готовности.</a:t>
            </a:r>
          </a:p>
          <a:p xmlns:a="http://schemas.openxmlformats.org/drawingml/2006/main">
            <a:r>
              <a:t>• Масштабируется воспроизводимый рабочий контур.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[Текст для озвучки]</a:t>
            </a:r>
          </a:p>
          <a:p xmlns:a="http://schemas.openxmlformats.org/drawingml/2006/main">
            <a:r>
              <a:t>Первый пилот стоит строить вокруг одной производственной задачи — например, раннего выявления отклонения компрессорного агрегата. Сначала фиксируются метрика, границы и владелец. Затем создаётся устойчивый поток данных и контекст. Модель получает версию, процедуру проверки и описание неопределённости. Производственная команда определяет регламент реакции и ответственного. Масштабирование начинается только тогда, когда решение воспроизводимо, поддерживается в эксплуатации и переносится на другие активы контролируемым способом.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DNV-RP-A204: assurance covers concept-to-operation, organizational maturity, data/model quality, integration and maintenance: https://www.dnv.com/energy/standards-guidelines/dnv-rp-a204-assurance-of-digital-twins/</a:t>
            </a:r>
          </a:p>
          <a:p xmlns:a="http://schemas.openxmlformats.org/drawingml/2006/main">
            <a:r>
              <a:t>NIST Digital Twins: identify requirements, collect/manage data, develop, validate and maintain models: https://www.nist.gov/digital-twins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[Тезисы]</a:t>
            </a:r>
          </a:p>
          <a:p xmlns:a="http://schemas.openxmlformats.org/drawingml/2006/main">
            <a:r>
              <a:t>• Синхронизация должна быть достаточной для задачи.</a:t>
            </a:r>
          </a:p>
          <a:p xmlns:a="http://schemas.openxmlformats.org/drawingml/2006/main">
            <a:r>
              <a:t>• Прозрачность важнее внешней сложности системы.</a:t>
            </a:r>
          </a:p>
          <a:p xmlns:a="http://schemas.openxmlformats.org/drawingml/2006/main">
            <a:r>
              <a:t>• Инженерная проверка и обратная связь обязательны.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[Текст для озвучки]</a:t>
            </a:r>
          </a:p>
          <a:p xmlns:a="http://schemas.openxmlformats.org/drawingml/2006/main">
            <a:r>
              <a:t>Главный вывод состоит в том, что цифровой аватар сокращает путь от сигнала к обоснованному решению. Для этого не нужно синхронизировать всё месторождение с максимальной частотой. Нужно связать именно те объекты, данные и модели, которые необходимы выбранной задаче. Пользователь должен видеть происхождение данных, версию модели, неопределённость и ограничения применения. А производственный процесс должен закреплять инженерную проверку, действие и измерение результата.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Синтез на основе DTC, NIST, OPC Foundation и DNV-RP-A204; количественные эффекты и неподтверждённые кейсы не используются.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[Тезисы]</a:t>
            </a:r>
          </a:p>
          <a:p xmlns:a="http://schemas.openxmlformats.org/drawingml/2006/main">
            <a:r>
              <a:t>• Завершить основную часть выступления.</a:t>
            </a:r>
          </a:p>
          <a:p xmlns:a="http://schemas.openxmlformats.org/drawingml/2006/main">
            <a:r>
              <a:t>• Перейти к вопросам и обсуждению.</a:t>
            </a:r>
          </a:p>
          <a:p xmlns:a="http://schemas.openxmlformats.org/drawingml/2006/main">
            <a:r>
              <a:t>• При необходимости вернуться к схемам или пилоту.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[Текст для озвучки]</a:t>
            </a:r>
          </a:p>
          <a:p xmlns:a="http://schemas.openxmlformats.org/drawingml/2006/main">
            <a:r>
              <a:t>Спасибо за внимание. Готов ответить на вопросы и обсудить, какая одна измеримая задача могла бы стать первым пилотом.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124dbaf714129" /><Relationship Type="http://schemas.openxmlformats.org/officeDocument/2006/relationships/image" Target="/ppt/media/image.jpeg" Id="R800a9f8ae4344b03" /><Relationship Type="http://schemas.openxmlformats.org/officeDocument/2006/relationships/image" Target="/ppt/media/image.png" Id="Rb23ebf0c34294a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9969df21747db" /><Relationship Type="http://schemas.openxmlformats.org/officeDocument/2006/relationships/image" Target="/ppt/media/image2.jpeg" Id="Rb6513288b3614a0a" /><Relationship Type="http://schemas.openxmlformats.org/officeDocument/2006/relationships/image" Target="/ppt/media/image.svg" Id="R7bb16d54cb92401c" /><Relationship Type="http://schemas.openxmlformats.org/officeDocument/2006/relationships/image" Target="/ppt/media/image.jpeg" Id="R5cf7cde68d714a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8de86510a4856" /><Relationship Type="http://schemas.openxmlformats.org/officeDocument/2006/relationships/image" Target="/ppt/media/image2.png" Id="Rb4d9609bb9004c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65efbf3e994c30" /><Relationship Type="http://schemas.openxmlformats.org/officeDocument/2006/relationships/image" Target="/ppt/media/image2.svg" Id="R87751de4ff184fb4" /><Relationship Type="http://schemas.openxmlformats.org/officeDocument/2006/relationships/image" Target="/ppt/media/image2.jpeg" Id="Rfe6de2303cda41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fbc7d3e444b02" /><Relationship Type="http://schemas.openxmlformats.org/officeDocument/2006/relationships/image" Target="/ppt/media/image2.png" Id="R34a39429c58c46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0c56954c3418e" /><Relationship Type="http://schemas.openxmlformats.org/officeDocument/2006/relationships/image" Target="/ppt/media/image2.png" Id="R8be696c689fe43d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1197f7a064a84" /><Relationship Type="http://schemas.openxmlformats.org/officeDocument/2006/relationships/image" Target="/ppt/media/image2.jpeg" Id="Rf88da49b00dc4620" /><Relationship Type="http://schemas.openxmlformats.org/officeDocument/2006/relationships/image" Target="/ppt/media/image2.svg" Id="R42fcf4d117b34b2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0290939d140c6" /><Relationship Type="http://schemas.openxmlformats.org/officeDocument/2006/relationships/image" Target="/ppt/media/image2.png" Id="R0a4e0fae457b413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f6cb5a72d47e4" /><Relationship Type="http://schemas.openxmlformats.org/officeDocument/2006/relationships/image" Target="/ppt/media/image2.png" Id="R0d293de914bc4a2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3d99eae9b4402" /><Relationship Type="http://schemas.openxmlformats.org/officeDocument/2006/relationships/image" Target="/ppt/media/image2.png" Id="R2f2a091cda784ee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b12c8150c40ac" /><Relationship Type="http://schemas.openxmlformats.org/officeDocument/2006/relationships/image" Target="/ppt/media/image2.png" Id="R5ae545ade0d74cc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b72f2290b499c" /><Relationship Type="http://schemas.openxmlformats.org/officeDocument/2006/relationships/image" Target="/ppt/media/image2.png" Id="Rd57c59cdb60349c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44f5d4eab348eb" /><Relationship Type="http://schemas.openxmlformats.org/officeDocument/2006/relationships/image" Target="/ppt/media/image2.png" Id="R7104db2a549c48d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1d2a250a94d8b" /><Relationship Type="http://schemas.openxmlformats.org/officeDocument/2006/relationships/image" Target="/ppt/media/image2.png" Id="Rb0afa741404c479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a134fa0b049d1" /><Relationship Type="http://schemas.openxmlformats.org/officeDocument/2006/relationships/image" Target="/ppt/media/image2.jpeg" Id="Rf6941b2c53da4a19" /><Relationship Type="http://schemas.openxmlformats.org/officeDocument/2006/relationships/image" Target="/ppt/media/image2.svg" Id="R4e78f96ab1b745d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17eb136554edb" /><Relationship Type="http://schemas.openxmlformats.org/officeDocument/2006/relationships/image" Target="/ppt/media/image3.png" Id="R2f0a0e9660354f3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6fade757046c0" /><Relationship Type="http://schemas.openxmlformats.org/officeDocument/2006/relationships/image" Target="/ppt/media/image4.png" Id="Rafe42bfda7c441b7" /></Relationships>
</file>

<file path=ppt/slideLayouts/slideLayout1.xml><?xml version="1.0" encoding="utf-8"?>
<p:sldLayout xmlns:p="http://schemas.openxmlformats.org/presentationml/2006/main" preserve="1" userDrawn="1">
  <p:cSld name="1_Обложка">
    <p:bg>
      <p:bgPr>
        <a:blipFill xmlns:a="http://schemas.openxmlformats.org/drawingml/2006/main" rotWithShape="1">
          <a:blip xmlns:r="http://schemas.openxmlformats.org/officeDocument/2006/relationships" r:embed="R800a9f8ae4344b0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ebf0c3429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3859" y="962173"/>
            <a:ext cx="886499" cy="886499"/>
          </a:xfrm>
          <a:prstGeom xmlns:a="http://schemas.openxmlformats.org/drawingml/2006/main" prst="rect">
            <a:avLst/>
          </a:prstGeom>
        </p:spPr>
      </p:pic>
      <p:sp>
        <p:nvSpPr>
          <p:cNvPr id="16" name="Заголовок 15">
            <a:extLst xmlns:a="http://schemas.openxmlformats.org/drawingml/2006/main"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7967" y="2404670"/>
            <a:ext cx="7634059" cy="1978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300" b="0" i="0" baseline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презентации</a:t>
            </a:r>
            <a:br/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может быть набрано в две </a:t>
            </a:r>
            <a:br/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или три строки (43 </a:t>
            </a:r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pt)</a:t>
            </a:r>
            <a:endParaRPr sz="4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074947" y="1187841"/>
            <a:ext cx="3848717" cy="4351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/>
                <a:ea typeface="HSE Sans"/>
                <a:cs typeface="HSE Sans"/>
              </a:defRPr>
            </a:lvl1pPr>
            <a:lvl2pPr marL="457200" indent="0" algn="l">
              <a:buNone/>
              <a:defRPr sz="1600" b="0" i="0">
                <a:latin typeface="HSE Sans"/>
                <a:ea typeface="HSE Sans"/>
                <a:cs typeface="HSE Sans"/>
              </a:defRPr>
            </a:lvl2pPr>
            <a:lvl3pPr marL="914400" indent="0" algn="l">
              <a:buNone/>
              <a:defRPr sz="1600" b="0" i="0">
                <a:latin typeface="HSE Sans"/>
                <a:ea typeface="HSE Sans"/>
                <a:cs typeface="HSE Sans"/>
              </a:defRPr>
            </a:lvl3pPr>
            <a:lvl4pPr marL="1371600" indent="0" algn="l">
              <a:buNone/>
              <a:defRPr sz="1600" b="0" i="0">
                <a:latin typeface="HSE Sans"/>
                <a:ea typeface="HSE Sans"/>
                <a:cs typeface="HSE Sans"/>
              </a:defRPr>
            </a:lvl4pPr>
            <a:lvl5pPr marL="1828800" indent="0" algn="l">
              <a:buNone/>
              <a:defRPr sz="16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>
                <a:latin typeface="HSE Sans"/>
                <a:ea typeface="HSE Sans"/>
                <a:cs typeface="HSE Sans"/>
              </a:rPr>
              <a:t>Название факультета</a:t>
            </a:r>
            <a:br/>
            <a:r>
              <a:rPr>
                <a:latin typeface="HSE Sans"/>
                <a:ea typeface="HSE Sans"/>
                <a:cs typeface="HSE Sans"/>
              </a:rPr>
              <a:t>в две строки</a:t>
            </a:r>
            <a:r>
              <a:rPr>
                <a:latin typeface="HSE Sans"/>
                <a:ea typeface="HSE Sans"/>
                <a:cs typeface="HSE Sans"/>
              </a:rPr>
              <a:t> (16 pt)</a:t>
            </a:r>
            <a:endParaRPr>
              <a:latin typeface="HSE Sans"/>
              <a:ea typeface="HSE Sans"/>
              <a:cs typeface="HSE Sans"/>
            </a:endParaRPr>
          </a:p>
        </p:txBody>
      </p:sp>
      <p:sp>
        <p:nvSpPr>
          <p:cNvPr id="25" name="Текст 24">
            <a:extLst xmlns:a="http://schemas.openxmlformats.org/drawingml/2006/main"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259420" y="1173829"/>
            <a:ext cx="2278063" cy="4631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12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200">
                <a:latin typeface="HSE Sans"/>
                <a:ea typeface="HSE Sans"/>
                <a:cs typeface="HSE Sans"/>
              </a:rPr>
              <a:t>в две или три строки (12</a:t>
            </a:r>
            <a:r>
              <a:rPr sz="12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27" name="Текст 26">
            <a:extLst xmlns:a="http://schemas.openxmlformats.org/drawingml/2006/main"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027967" y="6189042"/>
            <a:ext cx="2217738" cy="2300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1200">
                <a:latin typeface="HSE Sans"/>
                <a:ea typeface="HSE Sans"/>
                <a:cs typeface="HSE Sans"/>
              </a:rPr>
              <a:t>Москва 202</a:t>
            </a:r>
            <a:r>
              <a:rPr sz="1200">
                <a:latin typeface="HSE Sans"/>
                <a:ea typeface="HSE Sans"/>
                <a:cs typeface="HSE Sans"/>
              </a:rPr>
              <a:t>4</a:t>
            </a:r>
            <a:r>
              <a:rPr sz="1200">
                <a:latin typeface="HSE Sans"/>
                <a:ea typeface="HSE Sans"/>
                <a:cs typeface="HSE Sans"/>
              </a:rPr>
              <a:t> (12</a:t>
            </a:r>
            <a:r>
              <a:rPr sz="12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29" name="Текст 28">
            <a:extLst xmlns:a="http://schemas.openxmlformats.org/drawingml/2006/main"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027967" y="4824914"/>
            <a:ext cx="7625267" cy="652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1600">
                <a:latin typeface="HSE Sans"/>
                <a:ea typeface="HSE Sans"/>
                <a:cs typeface="HSE Sans"/>
              </a:rPr>
              <a:t>Если нужно больше места, то используйте подзаголовок (16 </a:t>
            </a:r>
            <a:r>
              <a:rPr sz="1600">
                <a:latin typeface="HSE Sans"/>
                <a:ea typeface="HSE Sans"/>
                <a:cs typeface="HSE Sans"/>
              </a:rPr>
              <a:t>pt)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Обложка">
    <p:bg>
      <p:bgPr>
        <a:blipFill xmlns:a="http://schemas.openxmlformats.org/drawingml/2006/main" rotWithShape="1">
          <a:blip xmlns:r="http://schemas.openxmlformats.org/officeDocument/2006/relationships" r:embed="Rb6513288b3614a0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7cde68d714a05">
            <a:extLst>
              <a:ext uri="{96DAC541-7B7A-43D3-8B79-37D633B846F1}">
                <asvg:svgBlip xmlns:asvg="http://schemas.microsoft.com/office/drawing/2016/SVG/main" r:embed="R7bb16d54cb92401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3859" y="962173"/>
            <a:ext cx="886499" cy="886499"/>
          </a:xfrm>
          <a:prstGeom xmlns:a="http://schemas.openxmlformats.org/drawingml/2006/main" prst="rect">
            <a:avLst/>
          </a:prstGeom>
        </p:spPr>
      </p:pic>
      <p:sp>
        <p:nvSpPr>
          <p:cNvPr id="16" name="Заголовок 15">
            <a:extLst xmlns:a="http://schemas.openxmlformats.org/drawingml/2006/main"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7967" y="2404670"/>
            <a:ext cx="7634059" cy="1978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300" b="0" i="0" baseline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презентации</a:t>
            </a:r>
            <a:br/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может быть набрано в две </a:t>
            </a:r>
            <a:br/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или три строки (43 </a:t>
            </a:r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pt)</a:t>
            </a:r>
            <a:endParaRPr sz="4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074947" y="1187841"/>
            <a:ext cx="3848717" cy="4351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buNone/>
              <a:defRPr sz="1600" b="0" i="0">
                <a:latin typeface="HSE Sans"/>
                <a:ea typeface="HSE Sans"/>
                <a:cs typeface="HSE Sans"/>
              </a:defRPr>
            </a:lvl2pPr>
            <a:lvl3pPr marL="914400" indent="0" algn="l">
              <a:buNone/>
              <a:defRPr sz="1600" b="0" i="0">
                <a:latin typeface="HSE Sans"/>
                <a:ea typeface="HSE Sans"/>
                <a:cs typeface="HSE Sans"/>
              </a:defRPr>
            </a:lvl3pPr>
            <a:lvl4pPr marL="1371600" indent="0" algn="l">
              <a:buNone/>
              <a:defRPr sz="1600" b="0" i="0">
                <a:latin typeface="HSE Sans"/>
                <a:ea typeface="HSE Sans"/>
                <a:cs typeface="HSE Sans"/>
              </a:defRPr>
            </a:lvl4pPr>
            <a:lvl5pPr marL="1828800" indent="0" algn="l">
              <a:buNone/>
              <a:defRPr sz="16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600">
                <a:latin typeface="HSE Sans"/>
                <a:ea typeface="HSE Sans"/>
                <a:cs typeface="HSE Sans"/>
              </a:rPr>
              <a:t>Название факультета</a:t>
            </a:r>
            <a:br/>
            <a:r>
              <a:rPr sz="1600">
                <a:latin typeface="HSE Sans"/>
                <a:ea typeface="HSE Sans"/>
                <a:cs typeface="HSE Sans"/>
              </a:rPr>
              <a:t>в две строки (16 </a:t>
            </a:r>
            <a:r>
              <a:rPr sz="16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25" name="Текст 24">
            <a:extLst xmlns:a="http://schemas.openxmlformats.org/drawingml/2006/main"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259420" y="1173829"/>
            <a:ext cx="2278063" cy="4631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12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200">
                <a:latin typeface="HSE Sans"/>
                <a:ea typeface="HSE Sans"/>
                <a:cs typeface="HSE Sans"/>
              </a:rPr>
              <a:t>в две или три строки (12</a:t>
            </a:r>
            <a:r>
              <a:rPr sz="12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27" name="Текст 26">
            <a:extLst xmlns:a="http://schemas.openxmlformats.org/drawingml/2006/main"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027967" y="6189042"/>
            <a:ext cx="2217738" cy="2300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1200">
                <a:latin typeface="HSE Sans"/>
                <a:ea typeface="HSE Sans"/>
                <a:cs typeface="HSE Sans"/>
              </a:rPr>
              <a:t>Москва 202</a:t>
            </a:r>
            <a:r>
              <a:rPr sz="1200">
                <a:latin typeface="HSE Sans"/>
                <a:ea typeface="HSE Sans"/>
                <a:cs typeface="HSE Sans"/>
              </a:rPr>
              <a:t>4</a:t>
            </a:r>
            <a:r>
              <a:rPr sz="1200">
                <a:latin typeface="HSE Sans"/>
                <a:ea typeface="HSE Sans"/>
                <a:cs typeface="HSE Sans"/>
              </a:rPr>
              <a:t> (12</a:t>
            </a:r>
            <a:r>
              <a:rPr sz="12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29" name="Текст 28">
            <a:extLst xmlns:a="http://schemas.openxmlformats.org/drawingml/2006/main"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027967" y="4824914"/>
            <a:ext cx="7625267" cy="652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6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1600">
                <a:latin typeface="HSE Sans"/>
                <a:ea typeface="HSE Sans"/>
                <a:cs typeface="HSE Sans"/>
              </a:rPr>
              <a:t>Если нужно больше места, то используйте подзаголовок (16 </a:t>
            </a:r>
            <a:r>
              <a:rPr sz="1600">
                <a:latin typeface="HSE Sans"/>
                <a:ea typeface="HSE Sans"/>
                <a:cs typeface="HSE Sans"/>
              </a:rPr>
              <a:t>pt)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Текст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9609bb9004c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12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4" name="Рисунок 23">
            <a:extLst xmlns:a="http://schemas.openxmlformats.org/drawingml/2006/main"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684653" y="1447790"/>
            <a:ext cx="4325167" cy="432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HSE Sans"/>
                <a:ea typeface="HSE Sans"/>
                <a:cs typeface="HSE Sans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8" y="1447790"/>
            <a:ext cx="5245560" cy="777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</a:t>
            </a:r>
            <a:br/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две или три строки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7" y="2379663"/>
            <a:ext cx="5245561" cy="33932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>
              <a:spcBef>
                <a:spcPts val="1200"/>
              </a:spcBef>
              <a:buNone/>
            </a:pPr>
            <a:r>
              <a:rPr sz="1300">
                <a:latin typeface="HSE Sans"/>
                <a:ea typeface="HSE Sans"/>
                <a:cs typeface="HSE Sans"/>
              </a:rPr>
              <a:t>Небольшие куски текста (13</a:t>
            </a:r>
            <a:r>
              <a:rPr sz="1300">
                <a:latin typeface="HSE Sans"/>
                <a:ea typeface="HSE Sans"/>
                <a:cs typeface="HSE Sans"/>
              </a:rPr>
              <a:t>pt) </a:t>
            </a:r>
            <a:r>
              <a:rPr sz="1300">
                <a:latin typeface="HSE Sans"/>
                <a:ea typeface="HSE Sans"/>
                <a:cs typeface="HSE Sans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 xmlns:a="http://schemas.openxmlformats.org/drawingml/2006/main">
            <a:pPr>
              <a:spcBef>
                <a:spcPts val="1200"/>
              </a:spcBef>
              <a:buNone/>
            </a:pPr>
            <a:endParaRPr sz="1300">
              <a:latin typeface="HSE Sans"/>
              <a:ea typeface="HSE Sans"/>
              <a:cs typeface="HSE Sans"/>
            </a:endParaRPr>
          </a:p>
        </p:txBody>
      </p:sp>
      <p:sp>
        <p:nvSpPr>
          <p:cNvPr id="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798C6166-01E6-3A4D-3611-967AEA952ED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464364"/>
            <a:ext cx="2380347" cy="4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 (10</a:t>
            </a:r>
            <a:r>
              <a:rPr sz="1000">
                <a:latin typeface="HSE Sans"/>
                <a:ea typeface="HSE Sans"/>
                <a:cs typeface="HSE Sans"/>
              </a:rPr>
              <a:t>pt)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Текст_1">
    <p:bg>
      <p:bgPr>
        <a:solidFill xmlns:a="http://schemas.openxmlformats.org/drawingml/2006/main">
          <a:srgbClr val="0F2D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de2303cda4178">
            <a:extLst>
              <a:ext uri="{96DAC541-7B7A-43D3-8B79-37D633B846F1}">
                <asvg:svgBlip xmlns:asvg="http://schemas.microsoft.com/office/drawing/2016/SVG/main" r:embed="R87751de4ff184fb4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4" name="Рисунок 23">
            <a:extLst xmlns:a="http://schemas.openxmlformats.org/drawingml/2006/main"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684653" y="1447790"/>
            <a:ext cx="4325167" cy="432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HSE Sans"/>
                <a:ea typeface="HSE Sans"/>
                <a:cs typeface="HSE Sans"/>
              </a:rPr>
              <a:t>Чтобы слайд не выглядел пустым, сюда можно поставить иллюстрацию или фотографию</a:t>
            </a:r>
          </a:p>
        </p:txBody>
      </p:sp>
      <p:sp>
        <p:nvSpPr>
          <p:cNvPr id="32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8" y="1447790"/>
            <a:ext cx="5245560" cy="777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</a:t>
            </a:r>
            <a:br/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две или три строки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7" y="2379663"/>
            <a:ext cx="5245561" cy="33932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>
              <a:spcBef>
                <a:spcPts val="1200"/>
              </a:spcBef>
              <a:buNone/>
            </a:pPr>
            <a:r>
              <a:rPr sz="1300">
                <a:latin typeface="HSE Sans"/>
                <a:ea typeface="HSE Sans"/>
                <a:cs typeface="HSE Sans"/>
              </a:rPr>
              <a:t>Небольшие куски текста (13</a:t>
            </a:r>
            <a:r>
              <a:rPr sz="1300">
                <a:latin typeface="HSE Sans"/>
                <a:ea typeface="HSE Sans"/>
                <a:cs typeface="HSE Sans"/>
              </a:rPr>
              <a:t>pt) </a:t>
            </a:r>
            <a:r>
              <a:rPr sz="1300">
                <a:latin typeface="HSE Sans"/>
                <a:ea typeface="HSE Sans"/>
                <a:cs typeface="HSE Sans"/>
              </a:rP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  <a:p xmlns:a="http://schemas.openxmlformats.org/drawingml/2006/main">
            <a:pPr>
              <a:spcBef>
                <a:spcPts val="1200"/>
              </a:spcBef>
              <a:buNone/>
            </a:pPr>
            <a:endParaRPr sz="1300">
              <a:latin typeface="HSE Sans"/>
              <a:ea typeface="HSE Sans"/>
              <a:cs typeface="HSE Sans"/>
            </a:endParaRPr>
          </a:p>
        </p:txBody>
      </p:sp>
      <p:sp>
        <p:nvSpPr>
          <p:cNvPr id="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ADCA6769-713A-C49E-92DE-E9D7351777A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464364"/>
            <a:ext cx="2380347" cy="4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 (10</a:t>
            </a:r>
            <a:r>
              <a:rPr sz="10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A55C193-8C8A-222F-D79E-2AE23A67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12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chemeClr val="bg1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chemeClr val="bg1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Текст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39429c58c46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6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pt)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7" y="2379663"/>
            <a:ext cx="11057971" cy="3745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>
              <a:spcBef>
                <a:spcPts val="1200"/>
              </a:spcBef>
              <a:buNone/>
            </a:pPr>
            <a:r>
              <a:rPr sz="1300">
                <a:latin typeface="HSE Sans"/>
                <a:ea typeface="HSE Sans"/>
                <a:cs typeface="HSE Sans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1F48D50A-A262-1C9D-B595-6E723440F84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464364"/>
            <a:ext cx="2380347" cy="4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 (10</a:t>
            </a:r>
            <a:r>
              <a:rPr sz="10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E5DC289-A346-6D52-728C-DBDB0625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12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Текст_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696c689fe43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t>Небольшие куски текста (13</a:t>
            </a:r>
            <a:r>
              <a:t>pt) </a:t>
            </a:r>
            <a: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85897" y="5183249"/>
            <a:ext cx="3934345" cy="5539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sz="1000">
                <a:latin typeface="HSE Sans"/>
                <a:ea typeface="HSE Sans"/>
                <a:cs typeface="HSE Sans"/>
              </a:rPr>
              <a:t>pt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3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259892" y="2379663"/>
            <a:ext cx="5383968" cy="34517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3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pt)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464364"/>
            <a:ext cx="2380347" cy="4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 (10</a:t>
            </a:r>
            <a:r>
              <a:rPr sz="10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12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1_Текст_3">
    <p:bg>
      <p:bgPr>
        <a:solidFill xmlns:a="http://schemas.openxmlformats.org/drawingml/2006/main">
          <a:srgbClr val="0F2D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t>Небольшие куски текста (13</a:t>
            </a:r>
            <a:r>
              <a:t>pt) </a:t>
            </a:r>
            <a: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85897" y="5183249"/>
            <a:ext cx="3934345" cy="5539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sz="1000">
                <a:latin typeface="HSE Sans"/>
                <a:ea typeface="HSE Sans"/>
                <a:cs typeface="HSE Sans"/>
              </a:rPr>
              <a:t>pt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3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259892" y="2379663"/>
            <a:ext cx="5383968" cy="34517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32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</p:txBody>
      </p:sp>
      <p:sp>
        <p:nvSpPr>
          <p:cNvPr id="25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pt)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87E14987-3496-B241-A4C9-88FACDD837F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464364"/>
            <a:ext cx="2380347" cy="4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 (10</a:t>
            </a:r>
            <a:r>
              <a:rPr sz="10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5DA233-2840-0CF2-7595-6E920D8F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12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chemeClr val="bg1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chemeClr val="bg1"/>
              </a:solidFill>
              <a:latin typeface="HSE Sans"/>
              <a:ea typeface="HSE Sans"/>
              <a:cs typeface="HSE Sans"/>
            </a:endParaRPr>
          </a:p>
        </p:txBody>
      </p:sp>
      <p:pic>
        <p:nvPicPr>
          <p:cNvPr id="3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da49b00dc4620">
            <a:extLst>
              <a:ext uri="{96DAC541-7B7A-43D3-8B79-37D633B846F1}">
                <asvg:svgBlip xmlns:asvg="http://schemas.microsoft.com/office/drawing/2016/SVG/main" r:embed="R42fcf4d117b34b2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preserve="1" userDrawn="1">
  <p:cSld name="График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e0fae457b41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7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9" y="1447790"/>
            <a:ext cx="4322530" cy="777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</a:t>
            </a:r>
            <a:br/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pt)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t>Небольшие куски текста (13</a:t>
            </a:r>
            <a:r>
              <a:t>pt) </a:t>
            </a:r>
            <a: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85897" y="5183249"/>
            <a:ext cx="3934345" cy="5539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sz="1000">
                <a:latin typeface="HSE Sans"/>
                <a:ea typeface="HSE Sans"/>
                <a:cs typeface="HSE Sans"/>
              </a:rPr>
              <a:t>pt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 xmlns:a="http://schemas.openxmlformats.org/drawingml/2006/main"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xmlns:a="http://schemas.openxmlformats.org/drawingml/2006/main" noGrp="1"/>
          </p:cNvSpPr>
          <p:nvPr>
            <p:ph type="chart" idx="10"/>
          </p:nvPr>
        </p:nvSpPr>
        <p:spPr>
          <a:xfrm xmlns:a="http://schemas.openxmlformats.org/drawingml/2006/main">
            <a:off x="5272097" y="1447790"/>
            <a:ext cx="6371768" cy="42894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947BE6C6-911D-97B1-9FF0-E56E76CE1FC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464364"/>
            <a:ext cx="2380347" cy="4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 (10</a:t>
            </a:r>
            <a:r>
              <a:rPr sz="10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2B8F2F7-F867-3733-221D-9105DBD7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12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График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93de914bc4a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85897" y="5183249"/>
            <a:ext cx="3934345" cy="5539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sz="1000">
                <a:latin typeface="HSE Sans"/>
                <a:ea typeface="HSE Sans"/>
                <a:cs typeface="HSE Sans"/>
              </a:rPr>
              <a:t>pt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 xmlns:a="http://schemas.openxmlformats.org/drawingml/2006/main"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xmlns:a="http://schemas.openxmlformats.org/drawingml/2006/main" noGrp="1"/>
          </p:cNvSpPr>
          <p:nvPr>
            <p:ph type="chart" idx="10"/>
          </p:nvPr>
        </p:nvSpPr>
        <p:spPr>
          <a:xfrm xmlns:a="http://schemas.openxmlformats.org/drawingml/2006/main">
            <a:off x="5272097" y="1447790"/>
            <a:ext cx="6371768" cy="42894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85788" y="1447064"/>
            <a:ext cx="4322762" cy="703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графика. Обратите внимание, что название графика набирается меньшим кеглем, чем заголовок (16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2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t>Небольшие куски текста (13</a:t>
            </a:r>
            <a:r>
              <a:t>pt) </a:t>
            </a:r>
            <a: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BAA2ABD2-5DD0-5891-721C-8C35607EF21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464364"/>
            <a:ext cx="2380347" cy="4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 (10</a:t>
            </a:r>
            <a:r>
              <a:rPr sz="10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811CE61-AEA2-6B2E-A6BA-E1FCC0F3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12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Цифры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a091cda784e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7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pt)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75076" y="4103994"/>
            <a:ext cx="2758143" cy="1569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7007" y="4103994"/>
            <a:ext cx="2757612" cy="1569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7518938" y="4103994"/>
            <a:ext cx="2757612" cy="1569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75076" y="2710235"/>
            <a:ext cx="2758143" cy="11641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rPr sz="9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152</a:t>
            </a:r>
            <a:endParaRPr/>
          </a:p>
        </p:txBody>
      </p:sp>
      <p:sp>
        <p:nvSpPr>
          <p:cNvPr id="29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047007" y="2710235"/>
            <a:ext cx="2758143" cy="11641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rPr sz="9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95</a:t>
            </a:r>
            <a:endParaRPr/>
          </a:p>
        </p:txBody>
      </p:sp>
      <p:sp>
        <p:nvSpPr>
          <p:cNvPr id="30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7518938" y="2710235"/>
            <a:ext cx="2758143" cy="11641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rPr sz="9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284</a:t>
            </a:r>
            <a:endParaRPr/>
          </a:p>
        </p:txBody>
      </p:sp>
      <p:sp>
        <p:nvSpPr>
          <p:cNvPr id="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E37F1E9B-DA02-8B04-5D66-6E70B18F87A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464364"/>
            <a:ext cx="2380347" cy="4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 (10</a:t>
            </a:r>
            <a:r>
              <a:rPr sz="10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433964B-EB89-8BAB-E7B2-D61619F5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12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Таблица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545ade0d74c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5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85787" y="1447065"/>
            <a:ext cx="11058065" cy="3077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pt)</a:t>
            </a:r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85788" y="5739189"/>
            <a:ext cx="6824303" cy="703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>
                <a:ln>
                  <a:noFill/>
                </a:ln>
                <a:latin typeface="HSE Sans"/>
                <a:ea typeface="HSE Sans"/>
                <a:cs typeface="HSE Sans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sz="1300">
                <a:latin typeface="HSE Sans"/>
                <a:ea typeface="HSE Sans"/>
                <a:cs typeface="HSE Sans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19" name="Таблица 18">
            <a:extLst xmlns:a="http://schemas.openxmlformats.org/drawingml/2006/main"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xmlns:a="http://schemas.openxmlformats.org/drawingml/2006/main" noGrp="1"/>
          </p:cNvSpPr>
          <p:nvPr>
            <p:ph type="tbl" idx="19"/>
          </p:nvPr>
        </p:nvSpPr>
        <p:spPr>
          <a:xfrm xmlns:a="http://schemas.openxmlformats.org/drawingml/2006/main">
            <a:off x="585787" y="1984076"/>
            <a:ext cx="11058527" cy="35195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F9D02078-C44D-FDC7-F016-AAA697B369C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464364"/>
            <a:ext cx="2380347" cy="4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 (10</a:t>
            </a:r>
            <a:r>
              <a:rPr sz="10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18842E0-94A4-7C95-6167-A4343D4F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12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Таблица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c59cdb60349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8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85787" y="1447064"/>
            <a:ext cx="7617877" cy="5370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таблицы. Обратите внимание, что название графика </a:t>
            </a:r>
            <a:br/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набирается меньшим кеглем, чем заголовок (16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19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85788" y="5739189"/>
            <a:ext cx="6824303" cy="703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>
                <a:ln>
                  <a:noFill/>
                </a:ln>
                <a:latin typeface="HSE Sans"/>
                <a:ea typeface="HSE Sans"/>
                <a:cs typeface="HSE Sans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sz="1300">
                <a:latin typeface="HSE Sans"/>
                <a:ea typeface="HSE Sans"/>
                <a:cs typeface="HSE Sans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20" name="Таблица 18">
            <a:extLst xmlns:a="http://schemas.openxmlformats.org/drawingml/2006/main"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xmlns:a="http://schemas.openxmlformats.org/drawingml/2006/main" noGrp="1"/>
          </p:cNvSpPr>
          <p:nvPr>
            <p:ph type="tbl" idx="19"/>
          </p:nvPr>
        </p:nvSpPr>
        <p:spPr>
          <a:xfrm xmlns:a="http://schemas.openxmlformats.org/drawingml/2006/main">
            <a:off x="585787" y="2208362"/>
            <a:ext cx="7617895" cy="32952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686807" y="2208363"/>
            <a:ext cx="2930666" cy="2570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t>Небольшие куски текста (13</a:t>
            </a:r>
            <a:r>
              <a:t>pt) </a:t>
            </a:r>
            <a: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</a:t>
            </a:r>
          </a:p>
        </p:txBody>
      </p:sp>
      <p:sp>
        <p:nvSpPr>
          <p:cNvPr id="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A4F7150B-29F6-E02B-DF03-A6CF1DAE146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464364"/>
            <a:ext cx="2380347" cy="4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 (10</a:t>
            </a:r>
            <a:r>
              <a:rPr sz="10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3A3D227-70C3-C589-760B-7B235830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12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цвет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4db2a549c48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9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9" y="1447790"/>
            <a:ext cx="4322530" cy="777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Дополнительная </a:t>
            </a:r>
            <a:br/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цветовая гамма</a:t>
            </a: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 xmlns:a="http://schemas.openxmlformats.org/drawingml/2006/main"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D6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Oval 20">
            <a:extLst xmlns:a="http://schemas.openxmlformats.org/drawingml/2006/main"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A9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0D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9C6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Oval 26">
            <a:extLst xmlns:a="http://schemas.openxmlformats.org/drawingml/2006/main"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681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9">
            <a:extLst xmlns:a="http://schemas.openxmlformats.org/drawingml/2006/main"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4EB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33">
            <a:extLst xmlns:a="http://schemas.openxmlformats.org/drawingml/2006/main"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F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34">
            <a:extLst xmlns:a="http://schemas.openxmlformats.org/drawingml/2006/main"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A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35">
            <a:extLst xmlns:a="http://schemas.openxmlformats.org/drawingml/2006/main"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A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36">
            <a:extLst xmlns:a="http://schemas.openxmlformats.org/drawingml/2006/main"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A0A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7">
            <a:extLst xmlns:a="http://schemas.openxmlformats.org/drawingml/2006/main"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8C3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8">
            <a:extLst xmlns:a="http://schemas.openxmlformats.org/drawingml/2006/main"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2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9">
            <a:extLst xmlns:a="http://schemas.openxmlformats.org/drawingml/2006/main"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5A5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40">
            <a:extLst xmlns:a="http://schemas.openxmlformats.org/drawingml/2006/main"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41">
            <a:extLst xmlns:a="http://schemas.openxmlformats.org/drawingml/2006/main"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DF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42">
            <a:extLst xmlns:a="http://schemas.openxmlformats.org/drawingml/2006/main"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BB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43">
            <a:extLst xmlns:a="http://schemas.openxmlformats.org/drawingml/2006/main"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C9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44">
            <a:extLst xmlns:a="http://schemas.openxmlformats.org/drawingml/2006/main"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C3F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45">
            <a:extLst xmlns:a="http://schemas.openxmlformats.org/drawingml/2006/main"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C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46">
            <a:extLst xmlns:a="http://schemas.openxmlformats.org/drawingml/2006/main"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7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817FAA25-7AFF-120D-E11E-23900BC3634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464364"/>
            <a:ext cx="2380347" cy="4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 (10</a:t>
            </a:r>
            <a:r>
              <a:rPr sz="10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A827A0B-4041-FA0E-8E19-B1E358B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12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чистый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fa741404c4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54F64357-E931-2C80-4961-FDAC6AD52AB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464364"/>
            <a:ext cx="2380347" cy="4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 (10</a:t>
            </a:r>
            <a:r>
              <a:rPr sz="10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3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4ECCF55-736F-5DD2-72AF-D683B18FEC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pt)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0B48259-00E8-7932-5CD7-1A445FA8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12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чистый_2">
    <p:bg>
      <p:bgPr>
        <a:solidFill xmlns:a="http://schemas.openxmlformats.org/drawingml/2006/main">
          <a:srgbClr val="0F2D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41b2c53da4a19">
            <a:extLst>
              <a:ext uri="{96DAC541-7B7A-43D3-8B79-37D633B846F1}">
                <asvg:svgBlip xmlns:asvg="http://schemas.microsoft.com/office/drawing/2016/SVG/main" r:embed="R4e78f96ab1b745da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5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46122766-31E7-B290-0B7D-277417BEA3B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464364"/>
            <a:ext cx="2380347" cy="4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 (10</a:t>
            </a:r>
            <a:r>
              <a:rPr sz="1000">
                <a:latin typeface="HSE Sans"/>
                <a:ea typeface="HSE Sans"/>
                <a:cs typeface="HSE Sans"/>
              </a:rPr>
              <a:t>pt)</a:t>
            </a:r>
          </a:p>
        </p:txBody>
      </p:sp>
      <p:sp>
        <p:nvSpPr>
          <p:cNvPr id="6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7A60AC51-9662-2A08-7297-1D1D3632CF4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pt)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8C49F95-69E0-D3A2-1DD8-AED9B6E7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12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chemeClr val="bg1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chemeClr val="bg1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чистый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a0e9660354f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6000" y="2529000"/>
            <a:ext cx="1800000" cy="1800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7.xml><?xml version="1.0" encoding="utf-8"?>
<p:sldLayout xmlns:p="http://schemas.openxmlformats.org/presentationml/2006/main" preserve="1" userDrawn="1">
  <p:cSld name="1_чистый">
    <p:bg>
      <p:bgPr>
        <a:solidFill xmlns:a="http://schemas.openxmlformats.org/drawingml/2006/main">
          <a:srgbClr val="0F2D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42bfda7c441b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96000" y="2529000"/>
            <a:ext cx="1800000" cy="180000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0d897cc2e64721" /><Relationship Type="http://schemas.openxmlformats.org/officeDocument/2006/relationships/slideLayout" Target="/ppt/slideLayouts/slideLayout1.xml" Id="R51c16b015a4b4575" /><Relationship Type="http://schemas.openxmlformats.org/officeDocument/2006/relationships/slideLayout" Target="/ppt/slideLayouts/slideLayout2.xml" Id="R5c5daaccd2654eee" /><Relationship Type="http://schemas.openxmlformats.org/officeDocument/2006/relationships/slideLayout" Target="/ppt/slideLayouts/slideLayout3.xml" Id="Ra1ebcb49adc04489" /><Relationship Type="http://schemas.openxmlformats.org/officeDocument/2006/relationships/slideLayout" Target="/ppt/slideLayouts/slideLayout4.xml" Id="Rbe9dc2a260f84a60" /><Relationship Type="http://schemas.openxmlformats.org/officeDocument/2006/relationships/slideLayout" Target="/ppt/slideLayouts/slideLayout5.xml" Id="Rc8f9ad206425444d" /><Relationship Type="http://schemas.openxmlformats.org/officeDocument/2006/relationships/slideLayout" Target="/ppt/slideLayouts/slideLayout6.xml" Id="Rab2d334c3c864d94" /><Relationship Type="http://schemas.openxmlformats.org/officeDocument/2006/relationships/slideLayout" Target="/ppt/slideLayouts/slideLayout7.xml" Id="R4b4ca4c9bc62414a" /><Relationship Type="http://schemas.openxmlformats.org/officeDocument/2006/relationships/slideLayout" Target="/ppt/slideLayouts/slideLayout8.xml" Id="R45c2d22cfe334f06" /><Relationship Type="http://schemas.openxmlformats.org/officeDocument/2006/relationships/slideLayout" Target="/ppt/slideLayouts/slideLayout9.xml" Id="R6e9d54919a43416e" /><Relationship Type="http://schemas.openxmlformats.org/officeDocument/2006/relationships/slideLayout" Target="/ppt/slideLayouts/slideLayout10.xml" Id="R512a197cafa54f5d" /><Relationship Type="http://schemas.openxmlformats.org/officeDocument/2006/relationships/slideLayout" Target="/ppt/slideLayouts/slideLayout11.xml" Id="Rde2d96b13c934b35" /><Relationship Type="http://schemas.openxmlformats.org/officeDocument/2006/relationships/slideLayout" Target="/ppt/slideLayouts/slideLayout12.xml" Id="R0c620a5718f74fba" /><Relationship Type="http://schemas.openxmlformats.org/officeDocument/2006/relationships/slideLayout" Target="/ppt/slideLayouts/slideLayout13.xml" Id="R7375427a17bb4e3d" /><Relationship Type="http://schemas.openxmlformats.org/officeDocument/2006/relationships/slideLayout" Target="/ppt/slideLayouts/slideLayout14.xml" Id="R20086a4109cc4870" /><Relationship Type="http://schemas.openxmlformats.org/officeDocument/2006/relationships/slideLayout" Target="/ppt/slideLayouts/slideLayout15.xml" Id="R8ff284e76ffb4d55" /><Relationship Type="http://schemas.openxmlformats.org/officeDocument/2006/relationships/slideLayout" Target="/ppt/slideLayouts/slideLayout16.xml" Id="Rb48aa679fda84bb8" /><Relationship Type="http://schemas.openxmlformats.org/officeDocument/2006/relationships/slideLayout" Target="/ppt/slideLayouts/slideLayout17.xml" Id="R0e92ef14a31c4c3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c16b015a4b4575"/>
    <p:sldLayoutId xmlns:r="http://schemas.openxmlformats.org/officeDocument/2006/relationships" id="2147483650" r:id="R5c5daaccd2654eee"/>
    <p:sldLayoutId xmlns:r="http://schemas.openxmlformats.org/officeDocument/2006/relationships" id="2147483651" r:id="Ra1ebcb49adc04489"/>
    <p:sldLayoutId xmlns:r="http://schemas.openxmlformats.org/officeDocument/2006/relationships" id="2147483652" r:id="Rbe9dc2a260f84a60"/>
    <p:sldLayoutId xmlns:r="http://schemas.openxmlformats.org/officeDocument/2006/relationships" id="2147483653" r:id="Rc8f9ad206425444d"/>
    <p:sldLayoutId xmlns:r="http://schemas.openxmlformats.org/officeDocument/2006/relationships" id="2147483654" r:id="Rab2d334c3c864d94"/>
    <p:sldLayoutId xmlns:r="http://schemas.openxmlformats.org/officeDocument/2006/relationships" id="2147483655" r:id="R4b4ca4c9bc62414a"/>
    <p:sldLayoutId xmlns:r="http://schemas.openxmlformats.org/officeDocument/2006/relationships" id="2147483656" r:id="R45c2d22cfe334f06"/>
    <p:sldLayoutId xmlns:r="http://schemas.openxmlformats.org/officeDocument/2006/relationships" id="2147483657" r:id="R6e9d54919a43416e"/>
    <p:sldLayoutId xmlns:r="http://schemas.openxmlformats.org/officeDocument/2006/relationships" id="2147483658" r:id="R512a197cafa54f5d"/>
    <p:sldLayoutId xmlns:r="http://schemas.openxmlformats.org/officeDocument/2006/relationships" id="2147483659" r:id="Rde2d96b13c934b35"/>
    <p:sldLayoutId xmlns:r="http://schemas.openxmlformats.org/officeDocument/2006/relationships" id="2147483660" r:id="R0c620a5718f74fba"/>
    <p:sldLayoutId xmlns:r="http://schemas.openxmlformats.org/officeDocument/2006/relationships" id="2147483661" r:id="R7375427a17bb4e3d"/>
    <p:sldLayoutId xmlns:r="http://schemas.openxmlformats.org/officeDocument/2006/relationships" id="2147483662" r:id="R20086a4109cc4870"/>
    <p:sldLayoutId xmlns:r="http://schemas.openxmlformats.org/officeDocument/2006/relationships" id="2147483663" r:id="R8ff284e76ffb4d55"/>
    <p:sldLayoutId xmlns:r="http://schemas.openxmlformats.org/officeDocument/2006/relationships" id="2147483664" r:id="Rb48aa679fda84bb8"/>
    <p:sldLayoutId xmlns:r="http://schemas.openxmlformats.org/officeDocument/2006/relationships" id="2147483665" r:id="R0e92ef14a31c4c3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fd064a2044bf5" /><Relationship Type="http://schemas.openxmlformats.org/officeDocument/2006/relationships/notesSlide" Target="/ppt/notesSlides/notesSlide1.xml" Id="R0bce803ce2c146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3ea728fed2440e3" /><Relationship Type="http://schemas.openxmlformats.org/officeDocument/2006/relationships/image" Target="/ppt/media/image5.png" Id="R5c2aa201bae7457a" /><Relationship Type="http://schemas.openxmlformats.org/officeDocument/2006/relationships/notesSlide" Target="/ppt/notesSlides/notesSlide2.xml" Id="R4ee6e27b2f8245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ead2ee0ff9a4e4c" /><Relationship Type="http://schemas.openxmlformats.org/officeDocument/2006/relationships/notesSlide" Target="/ppt/notesSlides/notesSlide3.xml" Id="R4d3e3ab0614e49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6ab17d21db425b" /><Relationship Type="http://schemas.openxmlformats.org/officeDocument/2006/relationships/notesSlide" Target="/ppt/notesSlides/notesSlide4.xml" Id="Rfd2406118ded4a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8ae44a0087d49c0" /><Relationship Type="http://schemas.openxmlformats.org/officeDocument/2006/relationships/notesSlide" Target="/ppt/notesSlides/notesSlide5.xml" Id="R353565040bdb45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a08d98bd4694bf5" /><Relationship Type="http://schemas.openxmlformats.org/officeDocument/2006/relationships/image" Target="/ppt/media/image6.png" Id="R75eae92470a04480" /><Relationship Type="http://schemas.openxmlformats.org/officeDocument/2006/relationships/notesSlide" Target="/ppt/notesSlides/notesSlide6.xml" Id="R783012d3737645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d4e65c467f84b32" /><Relationship Type="http://schemas.openxmlformats.org/officeDocument/2006/relationships/notesSlide" Target="/ppt/notesSlides/notesSlide7.xml" Id="R2c40c2deafc642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3764c6ebdb74eaf" /><Relationship Type="http://schemas.openxmlformats.org/officeDocument/2006/relationships/notesSlide" Target="/ppt/notesSlides/notesSlide8.xml" Id="R1d5d9c94121b4b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60e74c8bf3c4cf3" /><Relationship Type="http://schemas.openxmlformats.org/officeDocument/2006/relationships/image" Target="/ppt/media/image7.png" Id="R11aec0c507cd4431" /><Relationship Type="http://schemas.openxmlformats.org/officeDocument/2006/relationships/notesSlide" Target="/ppt/notesSlides/notesSlide9.xml" Id="R233ba98cf0fd4b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b3097675fdd4000" /><Relationship Type="http://schemas.openxmlformats.org/officeDocument/2006/relationships/notesSlide" Target="/ppt/notesSlides/notesSlide10.xml" Id="Rdc0889c5745e4d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95180c8dcc4240" /><Relationship Type="http://schemas.openxmlformats.org/officeDocument/2006/relationships/notesSlide" Target="/ppt/notesSlides/notesSlide11.xml" Id="R1a39e450fde248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2ac8320ec048f5" /><Relationship Type="http://schemas.openxmlformats.org/officeDocument/2006/relationships/notesSlide" Target="/ppt/notesSlides/notesSlide12.xml" Id="Rdeda0759ee1347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A1E241-242E-DD0A-44F9-E3419A05BA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Цифровой аватар</a:t>
            </a:r>
            <a:endParaRPr/>
          </a:p>
          <a:p xmlns:a="http://schemas.openxmlformats.org/drawingml/2006/main">
            <a:r>
              <a:t>месторождения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A900E710-571C-98F6-BA66-BFF02C864F8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Как ИИ и IoT связывают данные, модели и производственные решения</a:t>
            </a:r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8543F12-E7D3-7DFF-16C2-422F9CF01FEF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Архитектура, инженерный контур и логика первого пилота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10FD3B58-6E3C-E257-9131-75703D1101C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Москва, 2026</a:t>
            </a:r>
            <a:endParaRPr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DDDD5D28-E949-BDF7-0BC3-F83B72DF02F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 наблюдения — к проверяемому действию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48327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3C23754-A6BC-A40C-0373-22A66ED3D8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Целостное решение требует связать три разных представления месторождения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745E11F8-D162-C8EC-CBD8-E442002740C2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Пласт, геология, запасы, давление, история разработки</a:t>
            </a:r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267FCB1-6C2C-798C-6505-D7986E52D503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Скважины, сбор, компрессия, подготовка и транспорт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14BAE4E-C9C1-B58E-F9D8-4D80524DDE5A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Режимы, ремонты, ограничения, погода и действия персонала</a:t>
            </a:r>
            <a:endParaRPr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BE9875A5-5548-7F57-7FE8-3560A223B2D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D9BE67D6-B62F-4DE8-E5C7-4BF3AD0E0AFC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  <a:endParaRPr/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CE27624-2527-F21A-30C2-5B55B3F0A82A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  <a:endParaRPr/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A677AAD-F68A-A9D2-DD71-19C70715625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ПОДЗЕМНЫЙ ОБЪЕКТ  ·  ПРОИЗВОДСТВЕННАЯ СИСТЕМА  ·  ОПЕРАЦИОННЫЙ КОНТЕКСТ</a:t>
            </a:r>
            <a:endParaRPr/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aa201bae7457a"/>
          <a:srcRect xmlns:a="http://schemas.openxmlformats.org/drawingml/2006/main" l="0" t="38895" r="0" b="388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476875"/>
            <a:ext cx="11049000" cy="1381125"/>
          </a:xfrm>
          <a:prstGeom xmlns:a="http://schemas.openxmlformats.org/drawingml/2006/main" prst="roundRect">
            <a:avLst>
              <a:gd name="adj" fmla="val 5517"/>
            </a:avLst>
          </a:prstGeom>
        </p:spPr>
      </p:pic>
    </p:spTree>
    <p:extLst>
      <p:ext uri="{BB962C8B-B14F-4D97-AF65-F5344CB8AC3E}">
        <p14:creationId xmlns:p14="http://schemas.microsoft.com/office/powerpoint/2010/main" val="40346003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DEF0C5B-D96A-397A-E414-7294C2654B96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Шесть источников описывают разные стороны одного производственного состояния</a:t>
            </a:r>
            <a:endParaRPr/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8F100FBD-DCD1-E4F6-CAF7-1FAA11ADF481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Ключ — единые идентификаторы объектов, временная привязка, единицы измерения и признаки качества</a:t>
            </a:r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EDE0620-B0E8-002C-8D32-4F72E719F7D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данных цифрового аватара</a:t>
            </a:r>
            <a:endParaRPr/>
          </a:p>
        </p:txBody>
      </p:sp>
      <p:graphicFrame>
        <p:nvGraphicFramePr>
          <p:cNvPr id="15" name="Table 2"/>
          <p:cNvGraphicFramePr/>
          <p:nvPr/>
        </p:nvGraphicFramePr>
        <p:xfrm>
          <a:off xmlns:a="http://schemas.openxmlformats.org/drawingml/2006/main" x="585787" y="2274857"/>
          <a:ext xmlns:a="http://schemas.openxmlformats.org/drawingml/2006/main" cx="11058081" cy="299335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451"/>
                <a:gridCol w="1579726"/>
                <a:gridCol w="1579726"/>
                <a:gridCol w="1579726"/>
                <a:gridCol w="1579726"/>
                <a:gridCol w="1579726"/>
              </a:tblGrid>
              <a:tr h="598670">
                <a:tc>
                  <a:txBody>
                    <a:bodyPr/>
                    <a:lstStyle/>
                    <a:p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Источник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Скважины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Оборудование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Процессы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Геомодели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ТОиР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Наблюдение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P, T, дебит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вибрация, ток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режим, состав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пласт, сетка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дефекты, работы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Частота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секунды–часы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секунды–минуты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минуты–смены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 пересчёту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 событию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Риск качества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пропуски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дрейф датчика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разные теги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версия модели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неполная запись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Роль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состояние скважины</a:t>
                      </a:r>
                      <a:endParaRPr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здоровье актива</a:t>
                      </a:r>
                      <a:endParaRPr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баланс потоков</a:t>
                      </a:r>
                      <a:endParaRPr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ограничения пласта</a:t>
                      </a:r>
                      <a:endParaRPr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контекст решения</a:t>
                      </a:r>
                      <a:endParaRPr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0324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6E0CE0C4-3D6B-E889-92C4-6CC95C3F810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МАТЕМАТИЧЕСКАЯ МОДЕЛЬ</a:t>
            </a:r>
            <a:endParaRPr/>
          </a:p>
          <a:p xmlns:a="http://schemas.openxmlformats.org/drawingml/2006/main">
            <a:r>
              <a:t>Вычисляет зависимости; может быть физической, статистической или гибридной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68D18FA7-EE7D-0B9F-5577-E4815CFD18BF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ДАШБОРД</a:t>
            </a:r>
            <a:endParaRPr/>
          </a:p>
          <a:p xmlns:a="http://schemas.openxmlformats.org/drawingml/2006/main">
            <a:r>
              <a:t>Показывает выбранные показатели; синхронизация и прогноз не обязательны</a:t>
            </a:r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30CC6F3-3DB2-76D5-C150-2A1B05E1AAEC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АВАТАР</a:t>
            </a:r>
            <a:endParaRPr/>
          </a:p>
          <a:p xmlns:a="http://schemas.openxmlformats.org/drawingml/2006/main">
            <a:r>
              <a:t>Понятный инженеру интерфейс к актуальному состоянию, прогнозам, ограничениям и истории решений</a:t>
            </a:r>
            <a:endParaRPr/>
          </a:p>
        </p:txBody>
      </p:sp>
      <p:sp>
        <p:nvSpPr>
          <p:cNvPr id="5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53D26EA5-A17D-0B84-655C-4D18ADA26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Цифровой аватар — рабочее представление системы цифрового двойника для конкретной роли</a:t>
            </a:r>
            <a:endParaRPr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6557C064-C075-D3CA-1FC9-CE7C03B97A8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ЦИФРОВОЙ ДВОЙНИК</a:t>
            </a:r>
            <a:endParaRPr/>
          </a:p>
          <a:p xmlns:a="http://schemas.openxmlformats.org/drawingml/2006/main">
            <a:r>
              <a:t>Синхронизированное представление объекта и процессов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578087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D5A67DD0-6DE6-8A23-6753-5E2AE7F006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Данные и модели связываются</a:t>
            </a:r>
            <a:endParaRPr/>
          </a:p>
          <a:p xmlns:a="http://schemas.openxmlformats.org/drawingml/2006/main">
            <a:r>
              <a:t>с производственным решением</a:t>
            </a:r>
            <a:endParaRPr/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E5501952-3883-E245-AEB4-739D8B72631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Каждый слой должен иметь владельца, правила качества и контролируемые версии</a:t>
            </a:r>
            <a:endParaRPr/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E96A9788-AE93-0440-B269-496BF962AB77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цифрового аватара</a:t>
            </a:r>
            <a:endParaRPr/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5FF60534-514B-7508-8CAC-A2CED186F34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Снизу вверх: наблюдение → смысл → расчёт → рекомендация</a:t>
            </a:r>
            <a:endParaRPr/>
          </a:p>
        </p:txBody>
      </p:sp>
      <p:sp>
        <p:nvSpPr>
          <p:cNvPr id="12" name="arch-1">
            <a:extLst xmlns:a="http://schemas.openxmlformats.org/drawingml/2006/main">
              <a:ext uri="{FF2B5EF4-FFF2-40B4-BE49-F238E27FC236}">
                <a16:creationId xmlns:a16="http://schemas.microsoft.com/office/drawing/2014/main" id="{8F0BFC7D-C8C1-481F-99FB-EE9A7EC5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6670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ДАТЧИКИ И СИСТЕМЫ</a:t>
            </a:r>
          </a:p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телеметрия · события</a:t>
            </a:r>
          </a:p>
        </p:txBody>
      </p:sp>
      <p:sp>
        <p:nvSpPr>
          <p:cNvPr id="13" name="arch-2">
            <a:extLst xmlns:a="http://schemas.openxmlformats.org/drawingml/2006/main">
              <a:ext uri="{FF2B5EF4-FFF2-40B4-BE49-F238E27FC236}">
                <a16:creationId xmlns:a16="http://schemas.microsoft.com/office/drawing/2014/main" id="{18ACEFB6-D76E-4030-9B72-AAFD92D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6670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КОНТЕКСТ ОБЪЕКТА</a:t>
            </a:r>
          </a:p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ID · единицы · режим</a:t>
            </a:r>
          </a:p>
        </p:txBody>
      </p:sp>
      <p:sp>
        <p:nvSpPr>
          <p:cNvPr id="14" name="arch-3">
            <a:extLst xmlns:a="http://schemas.openxmlformats.org/drawingml/2006/main">
              <a:ext uri="{FF2B5EF4-FFF2-40B4-BE49-F238E27FC236}">
                <a16:creationId xmlns:a16="http://schemas.microsoft.com/office/drawing/2014/main" id="{E0C69CE1-4C0B-45B4-9C59-81DBC33E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26670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D8E8F8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АКТУАЛЬНОЕ СОСТОЯНИЕ</a:t>
            </a:r>
          </a:p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история · качество</a:t>
            </a:r>
          </a:p>
        </p:txBody>
      </p:sp>
      <p:sp>
        <p:nvSpPr>
          <p:cNvPr id="15" name="arch-4">
            <a:extLst xmlns:a="http://schemas.openxmlformats.org/drawingml/2006/main">
              <a:ext uri="{FF2B5EF4-FFF2-40B4-BE49-F238E27FC236}">
                <a16:creationId xmlns:a16="http://schemas.microsoft.com/office/drawing/2014/main" id="{E7EDE5BB-14FC-4D5F-BC0A-CF380932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6670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D8E8F8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МОДЕЛИ И ИИ</a:t>
            </a:r>
          </a:p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физика · прогноз · сценарии</a:t>
            </a:r>
          </a:p>
        </p:txBody>
      </p:sp>
      <p:sp>
        <p:nvSpPr>
          <p:cNvPr id="16" name="arch-5">
            <a:extLst xmlns:a="http://schemas.openxmlformats.org/drawingml/2006/main">
              <a:ext uri="{FF2B5EF4-FFF2-40B4-BE49-F238E27FC236}">
                <a16:creationId xmlns:a16="http://schemas.microsoft.com/office/drawing/2014/main" id="{F8883F64-ACD9-4BD7-920D-E5D95E19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33875"/>
            <a:ext cx="2667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0F3474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ИНЖЕНЕРНОЕ РЕШЕНИЕ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ограничения · действие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096250" y="2066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762750" y="241935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906000" y="241935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96250" y="33528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4" idx="2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762750" y="3705225"/>
            <a:ext cx="238125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5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9667875" y="3705225"/>
            <a:ext cx="238125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195968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1A5C4ABE-95C0-917A-1004-AE9CA30027BD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IoT даёт наблюдения; пригодное состояние появляется после контекстуализации и контроля качества</a:t>
            </a:r>
            <a:endParaRPr/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989AD35A-F7B1-2309-6EBA-61D0B460D14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Поток не равен знанию: тег необходимо связать с объектом, временем, единицами и режимом работы</a:t>
            </a:r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3D11C18-910C-72EA-FEB6-4E3982F7A216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 сигнала к состоянию</a:t>
            </a:r>
            <a:endParaRPr/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85C30BE5-33E2-5791-4A70-DEC4B66B825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Контрольные точки: целостность, задержка, качество, семантика, доступ</a:t>
            </a:r>
            <a:endParaRPr/>
          </a:p>
        </p:txBody>
      </p:sp>
      <p:graphicFrame>
        <p:nvGraphicFramePr>
          <p:cNvPr id="19" name="Table 2"/>
          <p:cNvGraphicFramePr/>
          <p:nvPr/>
        </p:nvGraphicFramePr>
        <p:xfrm>
          <a:off xmlns:a="http://schemas.openxmlformats.org/drawingml/2006/main" x="517198" y="2312627"/>
          <a:ext xmlns:a="http://schemas.openxmlformats.org/drawingml/2006/main" cx="7529520" cy="299335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1808"/>
                <a:gridCol w="1505904"/>
                <a:gridCol w="1505904"/>
                <a:gridCol w="1505904"/>
              </a:tblGrid>
              <a:tr h="598670">
                <a:tc>
                  <a:txBody>
                    <a:bodyPr/>
                    <a:lstStyle/>
                    <a:p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Шаг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Сбор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Передача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Контекст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Что происходит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датчик / система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шлюз, historian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модель актива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Проверка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диапазон, статус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время, пропуски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ID, единицы, режим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Результат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сигнал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временной ряд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наблюдение аватара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Ответственный</a:t>
                      </a:r>
                      <a:endParaRPr sz="10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КИПиА / АСУ ТП</a:t>
                      </a:r>
                      <a:endParaRPr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IT/OT</a:t>
                      </a:r>
                      <a:endParaRPr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владелец данных</a:t>
                      </a:r>
                      <a:endParaRPr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ae92470a04480"/>
          <a:srcRect xmlns:a="http://schemas.openxmlformats.org/drawingml/2006/main" l="12573" t="0" r="125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4875" y="2714625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</p:spTree>
    <p:extLst>
      <p:ext uri="{BB962C8B-B14F-4D97-AF65-F5344CB8AC3E}">
        <p14:creationId xmlns:p14="http://schemas.microsoft.com/office/powerpoint/2010/main" val="41283948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3C23754-A6BC-A40C-0373-22A66ED3D8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Надёжный аватар использует не одну «волшебную модель», а согласованный портфель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745E11F8-D162-C8EC-CBD8-E442002740C2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Физические зависимости и ограничения процесса; понятны инженеру, требуют калибровки</a:t>
            </a:r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267FCB1-6C2C-798C-6505-D7986E52D503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Поиск закономерностей и аномалий в истории; зависит от репрезентативности данных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14BAE4E-C9C1-B58E-F9D8-4D80524DDE5A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Физика задаёт границы, данные уточняют параметры и остаточные зависимости</a:t>
            </a:r>
            <a:endParaRPr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BE9875A5-5548-7F57-7FE8-3560A223B2D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D9BE67D6-B62F-4DE8-E5C7-4BF3AD0E0AFC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  <a:endParaRPr/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CE27624-2527-F21A-30C2-5B55B3F0A82A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  <a:endParaRPr/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A677AAD-F68A-A9D2-DD71-19C70715625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ФИЗИЧЕСКИЕ  ·  DATA-DRIVEN  ·  ГИБРИДНЫЕ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46003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D5A67DD0-6DE6-8A23-6753-5E2AE7F006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ИИ расширяет анализ,</a:t>
            </a:r>
            <a:endParaRPr/>
          </a:p>
          <a:p xmlns:a="http://schemas.openxmlformats.org/drawingml/2006/main">
            <a:r>
              <a:t>но не заменяет инженера</a:t>
            </a:r>
            <a:endParaRPr/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E5501952-3883-E245-AEB4-739D8B72631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Обнаружение: найти отклонение от ожидаемого режима</a:t>
            </a:r>
            <a:endParaRPr/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E96A9788-AE93-0440-B269-496BF962AB77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Сценарии: сравнить варианты при заданных ограничениях</a:t>
            </a:r>
            <a:endParaRPr/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5FF60534-514B-7508-8CAC-A2CED186F34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Прогноз: оценить возможную траекторию и горизонт</a:t>
            </a:r>
            <a:endParaRPr/>
          </a:p>
        </p:txBody>
      </p:sp>
      <p:sp>
        <p:nvSpPr>
          <p:cNvPr id="12" name="ai-input">
            <a:extLst xmlns:a="http://schemas.openxmlformats.org/drawingml/2006/main">
              <a:ext uri="{FF2B5EF4-FFF2-40B4-BE49-F238E27FC236}">
                <a16:creationId xmlns:a16="http://schemas.microsoft.com/office/drawing/2014/main" id="{D4D257DB-A396-47DE-8D13-9F7D2F4A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2000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СОСТОЯНИЕ АВАТАРА</a:t>
            </a:r>
          </a:p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данные + контекст</a:t>
            </a:r>
          </a:p>
        </p:txBody>
      </p:sp>
      <p:sp>
        <p:nvSpPr>
          <p:cNvPr id="13" name="ai-detect">
            <a:extLst xmlns:a="http://schemas.openxmlformats.org/drawingml/2006/main">
              <a:ext uri="{FF2B5EF4-FFF2-40B4-BE49-F238E27FC236}">
                <a16:creationId xmlns:a16="http://schemas.microsoft.com/office/drawing/2014/main" id="{132B6590-DE2F-40AE-8962-A38E9695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76375"/>
            <a:ext cx="1619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D8E8F8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ОБНАРУЖИТЬ</a:t>
            </a:r>
          </a:p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что изменилось?</a:t>
            </a:r>
          </a:p>
        </p:txBody>
      </p:sp>
      <p:sp>
        <p:nvSpPr>
          <p:cNvPr id="14" name="ai-forecast">
            <a:extLst xmlns:a="http://schemas.openxmlformats.org/drawingml/2006/main">
              <a:ext uri="{FF2B5EF4-FFF2-40B4-BE49-F238E27FC236}">
                <a16:creationId xmlns:a16="http://schemas.microsoft.com/office/drawing/2014/main" id="{EA75974E-E73B-44FD-9582-C6AC3E1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1619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D8E8F8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ПРОГНОЗ</a:t>
            </a:r>
          </a:p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что возможно дальше?</a:t>
            </a:r>
          </a:p>
        </p:txBody>
      </p:sp>
      <p:sp>
        <p:nvSpPr>
          <p:cNvPr id="15" name="ai-scenario">
            <a:extLst xmlns:a="http://schemas.openxmlformats.org/drawingml/2006/main">
              <a:ext uri="{FF2B5EF4-FFF2-40B4-BE49-F238E27FC236}">
                <a16:creationId xmlns:a16="http://schemas.microsoft.com/office/drawing/2014/main" id="{CAF0EB57-3B50-43F5-B37A-0155FDC7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1619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D8E8F8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СРАВНИТЬ</a:t>
            </a:r>
          </a:p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что будет при вариантах?</a:t>
            </a:r>
          </a:p>
        </p:txBody>
      </p:sp>
      <p:sp>
        <p:nvSpPr>
          <p:cNvPr id="16" name="ai-output">
            <a:extLst xmlns:a="http://schemas.openxmlformats.org/drawingml/2006/main">
              <a:ext uri="{FF2B5EF4-FFF2-40B4-BE49-F238E27FC236}">
                <a16:creationId xmlns:a16="http://schemas.microsoft.com/office/drawing/2014/main" id="{4E4C4E67-4C4E-4948-8EF2-01EB1CEB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24125"/>
            <a:ext cx="1666875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0F3474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РЕКОМЕНДАЦИЯ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+ уверенность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+ ограничения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7381875" y="1866900"/>
            <a:ext cx="52387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381875" y="2343150"/>
            <a:ext cx="523875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381875" y="2343150"/>
            <a:ext cx="523875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525000" y="1866900"/>
            <a:ext cx="333375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525000" y="3057525"/>
            <a:ext cx="333375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9525000" y="3133725"/>
            <a:ext cx="333375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195968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FC2385FF-000F-9925-8769-C5E1C58903A5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ПРОИЗВОДСТВЕННЫЙ КОНТЕКСТ</a:t>
            </a:r>
            <a:endParaRPr/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98FA4D28-9294-2FD4-DBE6-3707728EDF89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ЗАМКНУТЫЙ КОНТУР РЕШЕНИЯ</a:t>
            </a:r>
            <a:endParaRPr/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1D5E089-937F-5213-531F-9B55EC5579C6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Инженер проверяет данные, ограничения и риск до действия</a:t>
            </a:r>
            <a:endParaRPr/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11370887-087C-FDE6-21F5-A891BAA499F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ЧЕЛОВЕК В КОНТУРЕ</a:t>
            </a:r>
            <a:endParaRPr/>
          </a:p>
        </p:txBody>
      </p:sp>
      <p:sp>
        <p:nvSpPr>
          <p:cNvPr id="14" name="loop-1">
            <a:extLst xmlns:a="http://schemas.openxmlformats.org/drawingml/2006/main">
              <a:ext uri="{FF2B5EF4-FFF2-40B4-BE49-F238E27FC236}">
                <a16:creationId xmlns:a16="http://schemas.microsoft.com/office/drawing/2014/main" id="{EEBB6B53-0B60-4488-9272-66DDD97B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09750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1</a:t>
            </a:r>
          </a:p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НАБЛЮДЕНИЕ</a:t>
            </a:r>
          </a:p>
        </p:txBody>
      </p:sp>
      <p:sp>
        <p:nvSpPr>
          <p:cNvPr id="15" name="loop-2">
            <a:extLst xmlns:a="http://schemas.openxmlformats.org/drawingml/2006/main">
              <a:ext uri="{FF2B5EF4-FFF2-40B4-BE49-F238E27FC236}">
                <a16:creationId xmlns:a16="http://schemas.microsoft.com/office/drawing/2014/main" id="{11521C54-4562-4474-A53B-B7708C05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8E8F8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2</a:t>
            </a:r>
          </a:p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ГИПОТЕЗА</a:t>
            </a:r>
          </a:p>
        </p:txBody>
      </p:sp>
      <p:sp>
        <p:nvSpPr>
          <p:cNvPr id="16" name="loop-3">
            <a:extLst xmlns:a="http://schemas.openxmlformats.org/drawingml/2006/main">
              <a:ext uri="{FF2B5EF4-FFF2-40B4-BE49-F238E27FC236}">
                <a16:creationId xmlns:a16="http://schemas.microsoft.com/office/drawing/2014/main" id="{D5EABD44-4844-4F6E-90F1-BC66A21D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33625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3</a:t>
            </a:r>
          </a:p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ПРОВЕРКА</a:t>
            </a:r>
          </a:p>
        </p:txBody>
      </p:sp>
      <p:sp>
        <p:nvSpPr>
          <p:cNvPr id="17" name="loop-4">
            <a:extLst xmlns:a="http://schemas.openxmlformats.org/drawingml/2006/main">
              <a:ext uri="{FF2B5EF4-FFF2-40B4-BE49-F238E27FC236}">
                <a16:creationId xmlns:a16="http://schemas.microsoft.com/office/drawing/2014/main" id="{FDE72A2F-1E40-443C-915E-692B4C0D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0F3474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4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ДЕЙСТВИЕ</a:t>
            </a:r>
          </a:p>
        </p:txBody>
      </p:sp>
      <p:sp>
        <p:nvSpPr>
          <p:cNvPr id="18" name="loop-5">
            <a:extLst xmlns:a="http://schemas.openxmlformats.org/drawingml/2006/main">
              <a:ext uri="{FF2B5EF4-FFF2-40B4-BE49-F238E27FC236}">
                <a16:creationId xmlns:a16="http://schemas.microsoft.com/office/drawing/2014/main" id="{2745F984-2863-449D-943A-F1E9A908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8E8F8"/>
          </a:solidFill>
          <a:ln xmlns:a="http://schemas.openxmlformats.org/drawingml/2006/main" w="14288">
            <a:solidFill>
              <a:srgbClr val="0F34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5</a:t>
            </a:r>
          </a:p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РЕЗУЛЬТАТ</a:t>
            </a:r>
          </a:p>
        </p:txBody>
      </p:sp>
      <p:cxnSp>
        <p:nvCxnSpPr>
          <p:cNvPr id="35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191375" y="1866900"/>
            <a:ext cx="71437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525000" y="1866900"/>
            <a:ext cx="523875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9477375" y="3209925"/>
            <a:ext cx="1381125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7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 flipV="1">
            <a:off x="7810500" y="4438650"/>
            <a:ext cx="8572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8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H="1" flipV="1">
            <a:off x="6381750" y="2686050"/>
            <a:ext cx="619125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7AE"/>
            </a:solidFill>
            <a:prstDash val="solid"/>
            <a:tailEnd type="triangle" w="sm" len="sm"/>
          </a:ln>
        </p:spPr>
      </p:cxnSp>
      <p:sp>
        <p:nvSpPr>
          <p:cNvPr id="24" name="loop-human">
            <a:extLst xmlns:a="http://schemas.openxmlformats.org/drawingml/2006/main">
              <a:ext uri="{FF2B5EF4-FFF2-40B4-BE49-F238E27FC236}">
                <a16:creationId xmlns:a16="http://schemas.microsoft.com/office/drawing/2014/main" id="{848446C8-6551-45AB-B347-D59EFB93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2047875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5A2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3474"/>
                </a:solidFill>
              </a:defRPr>
            </a:pPr>
            <a:r>
              <a:rPr sz="1200" b="0">
                <a:solidFill>
                  <a:srgbClr val="0F3474"/>
                </a:solidFill>
              </a:rPr>
              <a:t>ИНЖЕНЕР В КОНТУРЕ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ec0c507cd4431"/>
          <a:srcRect xmlns:a="http://schemas.openxmlformats.org/drawingml/2006/main" l="2284" t="0" r="22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3476625"/>
            <a:ext cx="371475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</p:spTree>
    <p:extLst>
      <p:ext uri="{BB962C8B-B14F-4D97-AF65-F5344CB8AC3E}">
        <p14:creationId xmlns:p14="http://schemas.microsoft.com/office/powerpoint/2010/main" val="4957627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DEF0C5B-D96A-397A-E414-7294C2654B96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пилот должен доказать один производственный контур, а не универсальность платформы</a:t>
            </a:r>
            <a:endParaRPr/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8F100FBD-DCD1-E4F6-CAF7-1FAA11ADF481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задачи: раннее выявление отклонения компрессорного агрегата — без обещания автономного управления</a:t>
            </a:r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EDE0620-B0E8-002C-8D32-4F72E719F7D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Этапы и ворота готовности</a:t>
            </a:r>
            <a:endParaRPr/>
          </a:p>
        </p:txBody>
      </p:sp>
      <p:graphicFrame>
        <p:nvGraphicFramePr>
          <p:cNvPr id="15" name="Table 2"/>
          <p:cNvGraphicFramePr/>
          <p:nvPr/>
        </p:nvGraphicFramePr>
        <p:xfrm>
          <a:off xmlns:a="http://schemas.openxmlformats.org/drawingml/2006/main" x="585787" y="2274857"/>
          <a:ext xmlns:a="http://schemas.openxmlformats.org/drawingml/2006/main" cx="11058081" cy="299335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451"/>
                <a:gridCol w="1579726"/>
                <a:gridCol w="1579726"/>
                <a:gridCol w="1579726"/>
                <a:gridCol w="1579726"/>
                <a:gridCol w="1579726"/>
              </a:tblGrid>
              <a:tr h="598670">
                <a:tc>
                  <a:txBody>
                    <a:bodyPr/>
                    <a:lstStyle/>
                    <a:p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Этап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Задача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Данные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Модель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Решение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Масштаб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Результат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метрика и границы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поток и контекст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версия и прогноз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регламент реакции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тиражируемый пакет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Ворота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есть владелец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есть качество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есть V&amp;V / UQ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есть ответственный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есть эксплуатация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Стоп-сигнал</a:t>
                      </a:r>
                      <a:endParaRPr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неясная ценность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ручные выгрузки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нет доверия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нет действия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нет поддержки</a:t>
                      </a:r>
                      <a:endParaRPr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Доказательство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измеримость</a:t>
                      </a:r>
                      <a:endParaRPr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повторяемость</a:t>
                      </a:r>
                      <a:endParaRPr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достоверность</a:t>
                      </a:r>
                      <a:endParaRPr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применимость</a:t>
                      </a:r>
                      <a:endParaRPr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3175" cmpd="sng">
                      <a:solidFill>
                        <a:schemeClr val="bg1"/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управляемость</a:t>
                      </a:r>
                      <a:endParaRPr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/>
                        <a:ea typeface="HSE Sans"/>
                        <a:cs typeface="HSE Sans"/>
                      </a:endParaRPr>
                    </a:p>
                  </a:txBody>
                  <a:tcPr marL="91440" marR="91440" marT="45720" marB="45720">
                    <a:lnL w="3175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0324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8757A51-BBC2-9047-B199-AE90EB17B4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1809750"/>
            <a:ext cx="8572500" cy="1428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Аватар ведёт от сигнала</a:t>
            </a:r>
            <a:endParaRPr/>
          </a:p>
          <a:p xmlns:a="http://schemas.openxmlformats.org/drawingml/2006/main">
            <a:r>
              <a:t>к обоснованному решению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68EB560-A246-394A-858C-3B1CFBF03B4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028700" y="3714750"/>
            <a:ext cx="2714625" cy="876300"/>
          </a:xfr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1  Синхронизировать только то, что нужно конкретной задаче</a:t>
            </a:r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83B3283F-BF0F-3744-BA57-1A19F8F7633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238625" y="3714750"/>
            <a:ext cx="2714625" cy="876300"/>
          </a:xfr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2  Показывать происхождение данных, версию модели и неопределённость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CC6432FC-CD29-4D47-A915-D2737E0BEA3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7448550" y="3714750"/>
            <a:ext cx="2714625" cy="876300"/>
          </a:xfr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3  Закрепить инженерную проверку, действие и обратную связь</a:t>
            </a:r>
            <a:endParaRPr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B32B7800-48A3-394E-A464-7BA3AE15CEC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028700" y="5143500"/>
            <a:ext cx="8763000" cy="68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Ценность создаёт не экран, а устойчивый контур: данные → модель → человек → действие → обучение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22106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8757A51-BBC2-9047-B199-AE90EB17B4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2333625"/>
            <a:ext cx="85725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Спасибо за внимание</a:t>
            </a:r>
            <a:endParaRPr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B32B7800-48A3-394E-A464-7BA3AE15CEC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028700" y="3905250"/>
            <a:ext cx="5715000" cy="476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Вопросы и обсуждение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2210610"/>
      </p:ext>
    </p:extLst>
  </p:cSld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2026-09-03T09:59:11.6550000Z</dcterms:created>
  <dcterms:modified xsi:type="dcterms:W3CDTF">2026-09-03T09:59:11.6550000Z</dcterms:modified>
</coreProperties>
</file>